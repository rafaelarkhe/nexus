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7"/>
  </p:notesMasterIdLst>
  <p:sldIdLst>
    <p:sldId id="279" r:id="rId2"/>
    <p:sldId id="258" r:id="rId3"/>
    <p:sldId id="278" r:id="rId4"/>
    <p:sldId id="293" r:id="rId5"/>
    <p:sldId id="294" r:id="rId6"/>
    <p:sldId id="296" r:id="rId7"/>
    <p:sldId id="297" r:id="rId8"/>
    <p:sldId id="298" r:id="rId9"/>
    <p:sldId id="312" r:id="rId10"/>
    <p:sldId id="304" r:id="rId11"/>
    <p:sldId id="299" r:id="rId12"/>
    <p:sldId id="300" r:id="rId13"/>
    <p:sldId id="301" r:id="rId14"/>
    <p:sldId id="302" r:id="rId15"/>
    <p:sldId id="303" r:id="rId16"/>
    <p:sldId id="305" r:id="rId17"/>
    <p:sldId id="295" r:id="rId18"/>
    <p:sldId id="313" r:id="rId19"/>
    <p:sldId id="308" r:id="rId20"/>
    <p:sldId id="307" r:id="rId21"/>
    <p:sldId id="309" r:id="rId22"/>
    <p:sldId id="306" r:id="rId23"/>
    <p:sldId id="310" r:id="rId24"/>
    <p:sldId id="311" r:id="rId25"/>
    <p:sldId id="265" r:id="rId26"/>
  </p:sldIdLst>
  <p:sldSz cx="9753600" cy="7315200"/>
  <p:notesSz cx="6858000" cy="9144000"/>
  <p:embeddedFontLst>
    <p:embeddedFont>
      <p:font typeface="Calibri" panose="020F0502020204030204" pitchFamily="34" charset="0"/>
      <p:regular r:id="rId28"/>
      <p:bold r:id="rId29"/>
      <p:italic r:id="rId30"/>
      <p:boldItalic r:id="rId31"/>
    </p:embeddedFont>
    <p:embeddedFont>
      <p:font typeface="Oswald Bold" panose="020B0604020202020204" charset="0"/>
      <p:regular r:id="rId32"/>
      <p:bold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90918"/>
    <a:srgbClr val="871313"/>
    <a:srgbClr val="9A1616"/>
    <a:srgbClr val="C6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4656" autoAdjust="0"/>
  </p:normalViewPr>
  <p:slideViewPr>
    <p:cSldViewPr>
      <p:cViewPr varScale="1">
        <p:scale>
          <a:sx n="75" d="100"/>
          <a:sy n="75" d="100"/>
        </p:scale>
        <p:origin x="152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5098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EA4E50-D365-453F-949E-02CA4214F828}" type="datetimeFigureOut">
              <a:rPr lang="pt-BR" smtClean="0"/>
              <a:t>02/06/2026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BD352E4-364D-4E6E-922B-2BED6CB0B0C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12614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emf"/><Relationship Id="rId4" Type="http://schemas.openxmlformats.org/officeDocument/2006/relationships/image" Target="../media/image8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e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B43C9E-8F39-8C3C-B26F-6E877498C6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>
            <a:extLst>
              <a:ext uri="{FF2B5EF4-FFF2-40B4-BE49-F238E27FC236}">
                <a16:creationId xmlns:a16="http://schemas.microsoft.com/office/drawing/2014/main" id="{6F72E453-C077-7AE1-07E4-F5E0E9564456}"/>
              </a:ext>
            </a:extLst>
          </p:cNvPr>
          <p:cNvSpPr/>
          <p:nvPr/>
        </p:nvSpPr>
        <p:spPr>
          <a:xfrm>
            <a:off x="4028253" y="6029103"/>
            <a:ext cx="1697093" cy="128568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2B21566F-DE4D-7925-8FA0-A71B393C21BA}"/>
              </a:ext>
            </a:extLst>
          </p:cNvPr>
          <p:cNvSpPr/>
          <p:nvPr/>
        </p:nvSpPr>
        <p:spPr>
          <a:xfrm>
            <a:off x="4028253" y="2197702"/>
            <a:ext cx="1697093" cy="128568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pt-BR">
              <a:solidFill>
                <a:srgbClr val="690918"/>
              </a:solidFill>
            </a:endParaRP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F0BB0D3-F8C7-B797-9B86-EB890115E94E}"/>
              </a:ext>
            </a:extLst>
          </p:cNvPr>
          <p:cNvSpPr txBox="1"/>
          <p:nvPr/>
        </p:nvSpPr>
        <p:spPr>
          <a:xfrm>
            <a:off x="0" y="2560691"/>
            <a:ext cx="9753600" cy="956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661"/>
              </a:lnSpc>
            </a:pPr>
            <a:r>
              <a:rPr lang="pt-BR" sz="40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Atendimento</a:t>
            </a:r>
            <a:r>
              <a:rPr lang="en-US" sz="40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40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Pré-Hospitalar</a:t>
            </a:r>
            <a:r>
              <a:rPr lang="en-US" sz="40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 </a:t>
            </a:r>
            <a:r>
              <a:rPr lang="pt-BR" sz="40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Resgate</a:t>
            </a:r>
            <a:r>
              <a:rPr lang="en-US" sz="40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</a:t>
            </a:r>
          </a:p>
        </p:txBody>
      </p:sp>
      <p:sp>
        <p:nvSpPr>
          <p:cNvPr id="12" name="TextBox 12">
            <a:extLst>
              <a:ext uri="{FF2B5EF4-FFF2-40B4-BE49-F238E27FC236}">
                <a16:creationId xmlns:a16="http://schemas.microsoft.com/office/drawing/2014/main" id="{3BBB4849-468F-CA69-03CC-C04C7C6FBACB}"/>
              </a:ext>
            </a:extLst>
          </p:cNvPr>
          <p:cNvSpPr txBox="1"/>
          <p:nvPr/>
        </p:nvSpPr>
        <p:spPr>
          <a:xfrm>
            <a:off x="613390" y="5041978"/>
            <a:ext cx="8526820" cy="646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1979" spc="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Matheus Barbosa </a:t>
            </a:r>
            <a:r>
              <a:rPr lang="en-US" sz="1979" b="1" spc="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Padilha – 1° TEN QOBM</a:t>
            </a:r>
          </a:p>
          <a:p>
            <a:pPr algn="ctr">
              <a:lnSpc>
                <a:spcPts val="2380"/>
              </a:lnSpc>
            </a:pPr>
            <a:r>
              <a:rPr lang="en-US" sz="1700" b="1" spc="8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Instrutor</a:t>
            </a:r>
            <a:endParaRPr lang="en-US" sz="1700" b="1" spc="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2">
            <a:extLst>
              <a:ext uri="{FF2B5EF4-FFF2-40B4-BE49-F238E27FC236}">
                <a16:creationId xmlns:a16="http://schemas.microsoft.com/office/drawing/2014/main" id="{FFAFACE7-6681-BF8A-0374-2E6FD6F9D5A8}"/>
              </a:ext>
            </a:extLst>
          </p:cNvPr>
          <p:cNvSpPr txBox="1"/>
          <p:nvPr/>
        </p:nvSpPr>
        <p:spPr>
          <a:xfrm>
            <a:off x="613390" y="6308245"/>
            <a:ext cx="8526820" cy="317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71"/>
              </a:lnSpc>
            </a:pPr>
            <a:r>
              <a:rPr lang="en-US" sz="1600" spc="98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Abr</a:t>
            </a:r>
            <a:r>
              <a:rPr lang="pt-BR" sz="1600" spc="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1600" spc="98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2026</a:t>
            </a:r>
            <a:endParaRPr lang="en-US" sz="1600" spc="8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1" name="Group 6">
            <a:extLst>
              <a:ext uri="{FF2B5EF4-FFF2-40B4-BE49-F238E27FC236}">
                <a16:creationId xmlns:a16="http://schemas.microsoft.com/office/drawing/2014/main" id="{7E79A7BE-5D6E-8F0A-C888-DEC47748ED3B}"/>
              </a:ext>
            </a:extLst>
          </p:cNvPr>
          <p:cNvGrpSpPr/>
          <p:nvPr/>
        </p:nvGrpSpPr>
        <p:grpSpPr>
          <a:xfrm>
            <a:off x="685800" y="-36849"/>
            <a:ext cx="8454410" cy="1318810"/>
            <a:chOff x="0" y="0"/>
            <a:chExt cx="2901555" cy="488448"/>
          </a:xfrm>
        </p:grpSpPr>
        <p:sp>
          <p:nvSpPr>
            <p:cNvPr id="22" name="Freeform 7">
              <a:extLst>
                <a:ext uri="{FF2B5EF4-FFF2-40B4-BE49-F238E27FC236}">
                  <a16:creationId xmlns:a16="http://schemas.microsoft.com/office/drawing/2014/main" id="{2F4C1720-DDB0-9C2C-3F91-CCB31B8F5DC9}"/>
                </a:ext>
              </a:extLst>
            </p:cNvPr>
            <p:cNvSpPr/>
            <p:nvPr/>
          </p:nvSpPr>
          <p:spPr>
            <a:xfrm>
              <a:off x="0" y="0"/>
              <a:ext cx="2901555" cy="488448"/>
            </a:xfrm>
            <a:custGeom>
              <a:avLst/>
              <a:gdLst/>
              <a:ahLst/>
              <a:cxnLst/>
              <a:rect l="l" t="t" r="r" b="b"/>
              <a:pathLst>
                <a:path w="2901555" h="488448">
                  <a:moveTo>
                    <a:pt x="35576" y="0"/>
                  </a:moveTo>
                  <a:lnTo>
                    <a:pt x="2865979" y="0"/>
                  </a:lnTo>
                  <a:cubicBezTo>
                    <a:pt x="2875414" y="0"/>
                    <a:pt x="2884463" y="3748"/>
                    <a:pt x="2891135" y="10420"/>
                  </a:cubicBezTo>
                  <a:cubicBezTo>
                    <a:pt x="2897806" y="17092"/>
                    <a:pt x="2901555" y="26141"/>
                    <a:pt x="2901555" y="35576"/>
                  </a:cubicBezTo>
                  <a:lnTo>
                    <a:pt x="2901555" y="452872"/>
                  </a:lnTo>
                  <a:cubicBezTo>
                    <a:pt x="2901555" y="462307"/>
                    <a:pt x="2897806" y="471356"/>
                    <a:pt x="2891135" y="478028"/>
                  </a:cubicBezTo>
                  <a:cubicBezTo>
                    <a:pt x="2884463" y="484700"/>
                    <a:pt x="2875414" y="488448"/>
                    <a:pt x="2865979" y="488448"/>
                  </a:cubicBezTo>
                  <a:lnTo>
                    <a:pt x="35576" y="488448"/>
                  </a:lnTo>
                  <a:cubicBezTo>
                    <a:pt x="15928" y="488448"/>
                    <a:pt x="0" y="472520"/>
                    <a:pt x="0" y="452872"/>
                  </a:cubicBezTo>
                  <a:lnTo>
                    <a:pt x="0" y="35576"/>
                  </a:lnTo>
                  <a:cubicBezTo>
                    <a:pt x="0" y="26141"/>
                    <a:pt x="3748" y="17092"/>
                    <a:pt x="10420" y="10420"/>
                  </a:cubicBezTo>
                  <a:cubicBezTo>
                    <a:pt x="17092" y="3748"/>
                    <a:pt x="26141" y="0"/>
                    <a:pt x="35576" y="0"/>
                  </a:cubicBezTo>
                  <a:close/>
                </a:path>
              </a:pathLst>
            </a:custGeom>
            <a:solidFill>
              <a:srgbClr val="C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42C3B91C-BB78-162E-13A1-4DF3FEB92524}"/>
                </a:ext>
              </a:extLst>
            </p:cNvPr>
            <p:cNvSpPr txBox="1"/>
            <p:nvPr/>
          </p:nvSpPr>
          <p:spPr>
            <a:xfrm>
              <a:off x="0" y="-47625"/>
              <a:ext cx="812800" cy="8604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183"/>
                </a:lnSpc>
              </a:pPr>
              <a:endParaRPr/>
            </a:p>
          </p:txBody>
        </p:sp>
      </p:grpSp>
      <p:sp>
        <p:nvSpPr>
          <p:cNvPr id="24" name="TextBox 11">
            <a:extLst>
              <a:ext uri="{FF2B5EF4-FFF2-40B4-BE49-F238E27FC236}">
                <a16:creationId xmlns:a16="http://schemas.microsoft.com/office/drawing/2014/main" id="{DEE993BA-FB77-BDDA-D2A9-2DB9165CD7D5}"/>
              </a:ext>
            </a:extLst>
          </p:cNvPr>
          <p:cNvSpPr txBox="1"/>
          <p:nvPr/>
        </p:nvSpPr>
        <p:spPr>
          <a:xfrm>
            <a:off x="1962433" y="210473"/>
            <a:ext cx="5901143" cy="7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 spc="300" dirty="0">
                <a:solidFill>
                  <a:srgbClr val="FFFFFF"/>
                </a:solidFill>
                <a:latin typeface="Times New Roman" panose="02020603050405020304" pitchFamily="18" charset="0"/>
                <a:ea typeface="Open Sans Extra Bold" panose="020B0604020202020204" charset="0"/>
                <a:cs typeface="Times New Roman" panose="02020603050405020304" pitchFamily="18" charset="0"/>
              </a:rPr>
              <a:t>CORPO DE BOMBEIROS MILITAR DO PARÁ E</a:t>
            </a:r>
          </a:p>
          <a:p>
            <a:pPr algn="ctr">
              <a:lnSpc>
                <a:spcPts val="2100"/>
              </a:lnSpc>
            </a:pPr>
            <a:r>
              <a:rPr lang="en-US" sz="1500" spc="300" dirty="0">
                <a:solidFill>
                  <a:srgbClr val="FFFFFF"/>
                </a:solidFill>
                <a:latin typeface="Times New Roman" panose="02020603050405020304" pitchFamily="18" charset="0"/>
                <a:ea typeface="Open Sans Extra Bold" panose="020B0604020202020204" charset="0"/>
                <a:cs typeface="Times New Roman" panose="02020603050405020304" pitchFamily="18" charset="0"/>
              </a:rPr>
              <a:t>COORDENADORIA ESTADUAL DE DEFESA CIVIL</a:t>
            </a:r>
          </a:p>
          <a:p>
            <a:pPr algn="ctr">
              <a:lnSpc>
                <a:spcPts val="2100"/>
              </a:lnSpc>
            </a:pPr>
            <a:r>
              <a:rPr lang="en-US" sz="1500" spc="300" dirty="0">
                <a:solidFill>
                  <a:srgbClr val="FFFFFF"/>
                </a:solidFill>
                <a:latin typeface="Times New Roman" panose="02020603050405020304" pitchFamily="18" charset="0"/>
                <a:ea typeface="Open Sans Extra Bold" panose="020B0604020202020204" charset="0"/>
                <a:cs typeface="Times New Roman" panose="02020603050405020304" pitchFamily="18" charset="0"/>
              </a:rPr>
              <a:t>ACADEMIA BOMBEIRO MILITAR</a:t>
            </a:r>
          </a:p>
        </p:txBody>
      </p:sp>
      <p:pic>
        <p:nvPicPr>
          <p:cNvPr id="25" name="Picture 10">
            <a:extLst>
              <a:ext uri="{FF2B5EF4-FFF2-40B4-BE49-F238E27FC236}">
                <a16:creationId xmlns:a16="http://schemas.microsoft.com/office/drawing/2014/main" id="{B162015A-3470-6797-71CD-E486B212CC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29394" y="253379"/>
            <a:ext cx="1233038" cy="608813"/>
          </a:xfrm>
          <a:prstGeom prst="rect">
            <a:avLst/>
          </a:prstGeom>
        </p:spPr>
      </p:pic>
      <p:pic>
        <p:nvPicPr>
          <p:cNvPr id="26" name="Picture 2">
            <a:extLst>
              <a:ext uri="{FF2B5EF4-FFF2-40B4-BE49-F238E27FC236}">
                <a16:creationId xmlns:a16="http://schemas.microsoft.com/office/drawing/2014/main" id="{1D5DF27E-C611-9593-1F49-707DA18156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9959" y="189222"/>
            <a:ext cx="679241" cy="7346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5">
            <a:extLst>
              <a:ext uri="{FF2B5EF4-FFF2-40B4-BE49-F238E27FC236}">
                <a16:creationId xmlns:a16="http://schemas.microsoft.com/office/drawing/2014/main" id="{B272BB82-73A6-2439-4AF4-897386426A4A}"/>
              </a:ext>
            </a:extLst>
          </p:cNvPr>
          <p:cNvSpPr txBox="1"/>
          <p:nvPr/>
        </p:nvSpPr>
        <p:spPr>
          <a:xfrm>
            <a:off x="36204" y="4225819"/>
            <a:ext cx="9753600" cy="3847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/>
            <a:r>
              <a:rPr lang="en-US" sz="2500" b="1" spc="12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Curso</a:t>
            </a:r>
            <a:r>
              <a:rPr lang="en-US" sz="25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500" b="1" spc="12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Formação</a:t>
            </a:r>
            <a:r>
              <a:rPr lang="en-US" sz="25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 </a:t>
            </a:r>
            <a:r>
              <a:rPr lang="en-US" sz="2500" b="1" spc="12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Oficiais</a:t>
            </a:r>
            <a:r>
              <a:rPr lang="en-US" sz="25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BM 2026 – </a:t>
            </a:r>
            <a:r>
              <a:rPr lang="en-US" sz="2500" b="1" spc="123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Turma</a:t>
            </a:r>
            <a:r>
              <a:rPr lang="en-US" sz="2500" b="1" spc="12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16</a:t>
            </a:r>
          </a:p>
        </p:txBody>
      </p:sp>
    </p:spTree>
    <p:extLst>
      <p:ext uri="{BB962C8B-B14F-4D97-AF65-F5344CB8AC3E}">
        <p14:creationId xmlns:p14="http://schemas.microsoft.com/office/powerpoint/2010/main" val="2737089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A5103650-955F-874B-996C-D95027CD0736}"/>
              </a:ext>
            </a:extLst>
          </p:cNvPr>
          <p:cNvSpPr/>
          <p:nvPr/>
        </p:nvSpPr>
        <p:spPr>
          <a:xfrm>
            <a:off x="0" y="0"/>
            <a:ext cx="3245869" cy="7315200"/>
          </a:xfrm>
          <a:prstGeom prst="rect">
            <a:avLst/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rgbClr val="690918"/>
              </a:solidFill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3426902" y="1316305"/>
            <a:ext cx="5183698" cy="1402348"/>
            <a:chOff x="0" y="0"/>
            <a:chExt cx="6452330" cy="1869798"/>
          </a:xfrm>
        </p:grpSpPr>
        <p:grpSp>
          <p:nvGrpSpPr>
            <p:cNvPr id="12" name="Group 12"/>
            <p:cNvGrpSpPr/>
            <p:nvPr/>
          </p:nvGrpSpPr>
          <p:grpSpPr>
            <a:xfrm>
              <a:off x="0" y="0"/>
              <a:ext cx="1253252" cy="1253252"/>
              <a:chOff x="0" y="0"/>
              <a:chExt cx="812800" cy="8128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/>
              <a:lstStyle/>
              <a:p>
                <a:endParaRPr lang="pt-BR">
                  <a:solidFill>
                    <a:srgbClr val="690918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76200" y="47625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pic>
          <p:nvPicPr>
            <p:cNvPr id="15" name="Picture 15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p:blipFill>
          <p:spPr>
            <a:xfrm>
              <a:off x="355862" y="259766"/>
              <a:ext cx="541528" cy="721163"/>
            </a:xfrm>
            <a:prstGeom prst="rect">
              <a:avLst/>
            </a:prstGeom>
          </p:spPr>
        </p:pic>
        <p:sp>
          <p:nvSpPr>
            <p:cNvPr id="16" name="TextBox 16"/>
            <p:cNvSpPr txBox="1"/>
            <p:nvPr/>
          </p:nvSpPr>
          <p:spPr>
            <a:xfrm>
              <a:off x="1669370" y="1117455"/>
              <a:ext cx="4782960" cy="752343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just">
                <a:lnSpc>
                  <a:spcPts val="2240"/>
                </a:lnSpc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Conceitos</a:t>
              </a:r>
              <a:r>
                <a:rPr lang="en-US" sz="2000" dirty="0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e </a:t>
              </a:r>
              <a:r>
                <a:rPr lang="en-US" sz="2000" dirty="0" err="1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condutas</a:t>
              </a:r>
              <a:r>
                <a:rPr lang="en-US" sz="2000" dirty="0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da </a:t>
              </a:r>
              <a:r>
                <a:rPr lang="en-US" sz="2000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oxigenoterapia</a:t>
              </a:r>
              <a:r>
                <a:rPr lang="en-US" sz="2000" dirty="0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.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669371" y="328811"/>
              <a:ext cx="2591964" cy="54753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>
                <a:lnSpc>
                  <a:spcPts val="3163"/>
                </a:lnSpc>
              </a:pPr>
              <a:r>
                <a:rPr lang="en-US" sz="2799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Objetivos</a:t>
              </a:r>
              <a:endParaRPr lang="en-US" sz="279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3429000" y="3613552"/>
            <a:ext cx="4837151" cy="1892856"/>
            <a:chOff x="2795" y="-244268"/>
            <a:chExt cx="6449535" cy="2523808"/>
          </a:xfrm>
        </p:grpSpPr>
        <p:grpSp>
          <p:nvGrpSpPr>
            <p:cNvPr id="19" name="Group 19"/>
            <p:cNvGrpSpPr/>
            <p:nvPr/>
          </p:nvGrpSpPr>
          <p:grpSpPr>
            <a:xfrm>
              <a:off x="2795" y="-244268"/>
              <a:ext cx="1247660" cy="1497520"/>
              <a:chOff x="1813" y="-158421"/>
              <a:chExt cx="809173" cy="971221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1813" y="0"/>
                <a:ext cx="809173" cy="812800"/>
              </a:xfrm>
              <a:custGeom>
                <a:avLst/>
                <a:gdLst/>
                <a:ahLst/>
                <a:cxnLst/>
                <a:rect l="l" t="t" r="r" b="b"/>
                <a:pathLst>
                  <a:path w="809173" h="812800">
                    <a:moveTo>
                      <a:pt x="404587" y="0"/>
                    </a:moveTo>
                    <a:cubicBezTo>
                      <a:pt x="628326" y="1001"/>
                      <a:pt x="809174" y="182659"/>
                      <a:pt x="809174" y="406400"/>
                    </a:cubicBezTo>
                    <a:cubicBezTo>
                      <a:pt x="809174" y="630141"/>
                      <a:pt x="628326" y="811799"/>
                      <a:pt x="404587" y="812800"/>
                    </a:cubicBezTo>
                    <a:cubicBezTo>
                      <a:pt x="180848" y="811799"/>
                      <a:pt x="0" y="630141"/>
                      <a:pt x="0" y="406400"/>
                    </a:cubicBezTo>
                    <a:cubicBezTo>
                      <a:pt x="0" y="182659"/>
                      <a:pt x="180848" y="1001"/>
                      <a:pt x="404587" y="0"/>
                    </a:cubicBezTo>
                    <a:close/>
                  </a:path>
                </a:pathLst>
              </a:custGeom>
              <a:solidFill>
                <a:srgbClr val="C00000"/>
              </a:solidFill>
            </p:spPr>
            <p:txBody>
              <a:bodyPr/>
              <a:lstStyle/>
              <a:p>
                <a:endParaRPr lang="pt-BR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4386" y="-158421"/>
                <a:ext cx="660400" cy="688975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1960"/>
                  </a:lnSpc>
                </a:pPr>
                <a:endParaRPr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p:grpSp>
        <p:sp>
          <p:nvSpPr>
            <p:cNvPr id="24" name="TextBox 24"/>
            <p:cNvSpPr txBox="1"/>
            <p:nvPr/>
          </p:nvSpPr>
          <p:spPr>
            <a:xfrm>
              <a:off x="1690011" y="1151025"/>
              <a:ext cx="4762318" cy="112851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marL="342900" indent="-342900" algn="just">
                <a:lnSpc>
                  <a:spcPts val="2240"/>
                </a:lnSpc>
                <a:buFont typeface="Arial" panose="020B0604020202020204" pitchFamily="34" charset="0"/>
                <a:buChar char="•"/>
              </a:pPr>
              <a:r>
                <a:rPr lang="en-US" sz="2000" dirty="0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Vias </a:t>
              </a:r>
              <a:r>
                <a:rPr lang="en-US" sz="2000" dirty="0" err="1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Aéreas</a:t>
              </a:r>
              <a:r>
                <a:rPr lang="en-US" sz="2000" dirty="0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  <a:p>
              <a:pPr marL="342900" indent="-342900" algn="just">
                <a:lnSpc>
                  <a:spcPts val="2240"/>
                </a:lnSpc>
                <a:buFont typeface="Arial" panose="020B0604020202020204" pitchFamily="34" charset="0"/>
                <a:buChar char="•"/>
              </a:pPr>
              <a:r>
                <a:rPr lang="en-US" sz="2000" dirty="0" err="1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Materiais</a:t>
              </a:r>
              <a:r>
                <a:rPr lang="en-US" sz="2000" dirty="0">
                  <a:solidFill>
                    <a:srgbClr val="070707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;</a:t>
              </a:r>
            </a:p>
            <a:p>
              <a:pPr marL="342900" indent="-342900" algn="just">
                <a:lnSpc>
                  <a:spcPts val="2240"/>
                </a:lnSpc>
                <a:buFont typeface="Arial" panose="020B0604020202020204" pitchFamily="34" charset="0"/>
                <a:buChar char="•"/>
              </a:pPr>
              <a:endParaRPr lang="en-US" sz="2000" dirty="0">
                <a:solidFill>
                  <a:srgbClr val="070707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690011" y="362381"/>
              <a:ext cx="4762319" cy="547159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>
                <a:lnSpc>
                  <a:spcPts val="3163"/>
                </a:lnSpc>
              </a:pPr>
              <a:r>
                <a:rPr lang="en-US" sz="2799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Conteúdo</a:t>
              </a:r>
              <a:r>
                <a:rPr lang="en-US" sz="2799" dirty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a ser </a:t>
              </a:r>
              <a:r>
                <a:rPr lang="en-US" sz="2799" dirty="0" err="1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abordado</a:t>
              </a:r>
              <a:endParaRPr lang="en-US" sz="2799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26" name="Picture 6">
            <a:extLst>
              <a:ext uri="{FF2B5EF4-FFF2-40B4-BE49-F238E27FC236}">
                <a16:creationId xmlns:a16="http://schemas.microsoft.com/office/drawing/2014/main" id="{7628CAE3-E382-57F9-B87B-51A8726B1CC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817" t="22234" r="50315" b="21467"/>
          <a:stretch>
            <a:fillRect/>
          </a:stretch>
        </p:blipFill>
        <p:spPr>
          <a:xfrm>
            <a:off x="3609501" y="3962400"/>
            <a:ext cx="581499" cy="523882"/>
          </a:xfrm>
          <a:prstGeom prst="rect">
            <a:avLst/>
          </a:prstGeom>
        </p:spPr>
      </p:pic>
      <p:grpSp>
        <p:nvGrpSpPr>
          <p:cNvPr id="29" name="Agrupar 28">
            <a:extLst>
              <a:ext uri="{FF2B5EF4-FFF2-40B4-BE49-F238E27FC236}">
                <a16:creationId xmlns:a16="http://schemas.microsoft.com/office/drawing/2014/main" id="{014228FD-5A50-B357-8B25-721B2C0A4AB9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C00000"/>
          </a:solidFill>
        </p:grpSpPr>
        <p:grpSp>
          <p:nvGrpSpPr>
            <p:cNvPr id="30" name="Agrupar 29">
              <a:extLst>
                <a:ext uri="{FF2B5EF4-FFF2-40B4-BE49-F238E27FC236}">
                  <a16:creationId xmlns:a16="http://schemas.microsoft.com/office/drawing/2014/main" id="{B0D84F7C-4056-2283-1842-73BE41937AB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32" name="Freeform 7">
                <a:extLst>
                  <a:ext uri="{FF2B5EF4-FFF2-40B4-BE49-F238E27FC236}">
                    <a16:creationId xmlns:a16="http://schemas.microsoft.com/office/drawing/2014/main" id="{9C800120-0B0A-4C4E-517E-A07892ED85CE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39" name="Picture 10">
                <a:extLst>
                  <a:ext uri="{FF2B5EF4-FFF2-40B4-BE49-F238E27FC236}">
                    <a16:creationId xmlns:a16="http://schemas.microsoft.com/office/drawing/2014/main" id="{03FCD85A-1653-6DA1-A50A-D9D2FF1D5A0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40" name="Retângulo: Cantos Arredondados 39">
                <a:extLst>
                  <a:ext uri="{FF2B5EF4-FFF2-40B4-BE49-F238E27FC236}">
                    <a16:creationId xmlns:a16="http://schemas.microsoft.com/office/drawing/2014/main" id="{14702B96-1A98-F593-B0AD-1009C0551BAA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31" name="Picture 2">
              <a:extLst>
                <a:ext uri="{FF2B5EF4-FFF2-40B4-BE49-F238E27FC236}">
                  <a16:creationId xmlns:a16="http://schemas.microsoft.com/office/drawing/2014/main" id="{A4007A55-820F-C4D9-4DB2-6BCAB8760B9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Oxigenoterapia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É a administração de oxigênio por meio da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via inalatória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com o objetivo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prevenir ou melhorar a hipóxia tecidual.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É válido ressaltar que o </a:t>
            </a:r>
            <a:r>
              <a:rPr lang="pt-BR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2 do ambiente apresenta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concentração de 21%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 o2 ao nível do mar, já a rede canalizada do serviço de saúde oferta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4% por litro de oxigênio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ou seja, acrescente 4% de o2 ao ar inspirado, desta forma, um paciente receberá 24% de oxigênio no ar inspirado se estiver recebendo 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volume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 1 litro.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É uma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droga terapêutica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 deve ser usada com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cautela,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uma vez que pode provocar 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ressecamento da mucosa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trato respiratório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devido à quantidade e pressão serem superiores àquelas encontradas no ar ambiente, pois a capacidade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umidificação das vias aéreas superiores pode ficar reduzida e causar atelectasia (colapso do tecido pulmonar). </a:t>
            </a:r>
          </a:p>
          <a:p>
            <a:pPr algn="just"/>
            <a:endParaRPr lang="pt-BR" sz="180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Todo traumatizado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deve receber suporte ventilatório apropriado com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oxigênio suplementar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para garantir que a hipóxia seja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corrigida ou completamente prevenida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uma vez que a qualidade e a oportunidade com que o socorrista atende as VA no local afetam diretamente a evolução do paciente no longo prazo e a duração da sua permanência hospitalar. </a:t>
            </a:r>
            <a:endParaRPr lang="pt-B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79335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Vias Aéreas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vias aéreas superiores 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consistem nas cavidades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nasal e oral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na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faringe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(regiões </a:t>
            </a:r>
            <a:r>
              <a:rPr lang="pt-BR" sz="1800" b="0" i="0" u="none" strike="noStrike" baseline="0" dirty="0" err="1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nasofaríngea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orofaríngea), na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hipofaringe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(região inferior e distal da faringe) e na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laringe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onde se encontram as pregas vocais; na região proximal temos a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epiglote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(que direciona o alimento para o esôfago e o ar para a traqueia). 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vias aéreas inferiores 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são constituídas pela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traqueia, por brônquio principal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pulmão direito, pulmão esquerdo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além dos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bronquíolos e alvéolos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sendo este a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unidade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funcional do sistema respiratório.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 músculo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diafragma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o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principal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músculo envolvido na respiração, mas deve-se ressaltar que existem outros, a saber: 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intercostais, </a:t>
            </a:r>
            <a:r>
              <a:rPr lang="pt-BR" sz="1800" b="1" i="0" u="none" strike="noStrike" baseline="0" dirty="0" err="1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esternocleidomastoideo</a:t>
            </a:r>
            <a:r>
              <a:rPr lang="pt-BR" sz="1800" b="1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e escaleno</a:t>
            </a:r>
            <a:r>
              <a:rPr lang="pt-BR" sz="18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perceptíveis em situações de maior esforço respiratório.</a:t>
            </a:r>
            <a:endParaRPr lang="pt-BR" sz="1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48F08A8-795B-4F96-B7B2-E4AA662586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0200" y="5100321"/>
            <a:ext cx="6279023" cy="2214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375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Indicações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Segundo a "American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Association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for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Respiratory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Care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(AARC), as indicações básicas de oxigenoterapia são: </a:t>
            </a: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Pa0² &lt; 60 mmHg ou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Sat0² &lt; 90 % (em ar ambiente);</a:t>
            </a:r>
          </a:p>
          <a:p>
            <a:pPr algn="just"/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Sat0² &lt; 88%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durante a deambulação, exercício ou sono em portadores de doenças cardiorrespiratórias;</a:t>
            </a: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Infarto Agudo do Miocárdio (IAM);</a:t>
            </a: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Intoxicação por gases (monóxido de carbono);</a:t>
            </a: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Envenenamento por cianeto;</a:t>
            </a:r>
          </a:p>
          <a:p>
            <a:pPr algn="just"/>
            <a:r>
              <a:rPr lang="pt-BR" sz="18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Convulsão.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010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Cilindro de Oxigênio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Oxigênio a 100% de concentração é acondicionado em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cilindros de aço ou alumínio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Segundo as normas internacionais, o cilindro deverá estar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pintado na cor verde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quando for para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uso medicinal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 conjunto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regulador de pressão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é constituído pelo manômetro, pelo </a:t>
            </a:r>
            <a:r>
              <a:rPr lang="pt-BR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fluxômetro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 pelo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redutor de pressão.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O objetivo do redutor de pressão é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reduzir a alta pressão do interior do cilindro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(150-200 Kgf/cm²) para uma pressão de consumo em torno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 a 5 Kgf/cm²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O manômetro indica em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Kgf/cm² a quantidade de 0² no interior do cilindro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Por sua vez, o </a:t>
            </a:r>
            <a:r>
              <a:rPr lang="pt-BR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fluxômetro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destina-se a controlar e a dosar, em litros por minuto, a administração de oxigênio.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 frasco umidificador é um recipiente no qual circula 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oxigênio para ser umidificado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Pode ser dispensado no APH em virtude do curto espaço de tempo em que o paciente é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exposto à utilização de oxigênio sem umidificação</a:t>
            </a:r>
            <a:r>
              <a:rPr lang="pt-BR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46487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5EAAEA6-490B-4636-A984-979AD0B02D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380983"/>
            <a:ext cx="9753600" cy="5934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17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753600" cy="6172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Cânula Orofaríngea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Antes de utilizar a cânula orofaríngea deve-se realizar 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aferição do tamanho adequado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ao paciente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(distância entre o lobo da orelha e a borda lateral da boca)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esse dispositivo deve ser posicionado com o lado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côncavo para cima no orifício oral do paciente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e,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após adentrar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deve-se realizar um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giro de 180° do equipamento para acomodá-lo sobre a língua.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Em crianças, deve-se introduzir a cânula na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posição em que será mantida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(borda convexa para cima) a fim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evitar lesões no palato mole da vítima. </a:t>
            </a:r>
            <a:endParaRPr lang="pt-BR" sz="18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037A931-353A-4A3C-8706-5995047DC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353560"/>
            <a:ext cx="5029200" cy="29718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E08100D-93D5-43D0-BFF0-9E706C124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1" y="4353560"/>
            <a:ext cx="4648199" cy="29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34084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753600" cy="6172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Cânula </a:t>
            </a:r>
            <a:r>
              <a:rPr lang="pt-BR" sz="2400" b="0" i="0" u="none" strike="noStrike" baseline="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Nasofaríngea</a:t>
            </a:r>
            <a:endParaRPr lang="pt-BR" sz="24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 cânula </a:t>
            </a:r>
            <a:r>
              <a:rPr lang="pt-BR" sz="1800" b="0" i="0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nasofaríngea</a:t>
            </a:r>
            <a:r>
              <a:rPr lang="pt-BR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é um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tubo flexível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geralmente de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silicone ou PVC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inserido na narina para manter a via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aérea pérvia</a:t>
            </a:r>
            <a:r>
              <a:rPr lang="pt-BR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impedindo a queda da base da língua em pacientes com nível de consciência </a:t>
            </a:r>
            <a:r>
              <a:rPr lang="pt-BR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rebaixado ou semiconscientes</a:t>
            </a:r>
            <a:r>
              <a:rPr lang="pt-BR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pt-BR" sz="18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É indicada quando manobras manuais falham, </a:t>
            </a:r>
            <a:r>
              <a:rPr lang="pt-BR" sz="1800" b="1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sendo bem tolerada (mesmo com reflexo de vômito).</a:t>
            </a:r>
          </a:p>
          <a:p>
            <a:pPr algn="just"/>
            <a:endParaRPr lang="pt-BR" sz="1800" b="1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1" i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medida deve ser feita do lóbulo da orelha até a base do nariz.</a:t>
            </a:r>
            <a:endParaRPr lang="pt-BR" sz="1800" b="1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2037A931-353A-4A3C-8706-5995047DC9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" y="4353560"/>
            <a:ext cx="5029200" cy="2971800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E08100D-93D5-43D0-BFF0-9E706C1242F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05401" y="4353560"/>
            <a:ext cx="4648199" cy="292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749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753600" cy="6172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Cateter Nasal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C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ateter nasal tipo óculos é indicado para pacientes com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respiração espontânea e leve desconforto respiratório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que necessitam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baixo fluxo de oxigênio (até 6L/min). </a:t>
            </a:r>
          </a:p>
          <a:p>
            <a:pPr algn="just"/>
            <a:endParaRPr lang="pt-BR" sz="1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Existe cateter tipo óculos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neonatal, infantil e adulto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Com ele, o aumento de fluxo na ordem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1L/min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aumentará a concentração de oxigênio inspirado em cerca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3% a 4% na Fi0²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conseguindo no máximo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Fi0² de 44%.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Está indicado em situações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hipoxemia leve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com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Sp0² variando de 92% a 94%.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Sua desvantagem é quanto ao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uso prolongado ou altos fluxos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que podem desencadear 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ressecamento da mucosa nasal e até lesões. </a:t>
            </a:r>
            <a:endParaRPr lang="pt-BR" sz="18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929919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753600" cy="6172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Cateter Nasal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E12CC88-4D68-4A46-A96C-A8C0FA5E38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22828"/>
            <a:ext cx="9753599" cy="5692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9347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753600" cy="6172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Máscara Facial Simples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máscara facial simples usada na administração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baixo fluxo de oxigênio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no nariz e na boca do paciente. A fração respiratória dependerá do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acoplamento adequado na face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É necessário um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fluxo mínimo de 6 l/min para evitar a </a:t>
            </a:r>
            <a:r>
              <a:rPr lang="pt-BR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reinalação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de C0²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A máscara simples poderá aumentar 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Fi0² em até 60%.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Este artefato tem como vantagem ser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mais acessível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podendo ser utilizada inclusive em casa. Mas possui uma desvantagem: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precisa ser removida se o paciente precisar falar ou se alimentar. </a:t>
            </a:r>
            <a:endParaRPr lang="pt-BR" sz="18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D984293-1D79-4B46-A2BE-260D74E6784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97547" y="4191000"/>
            <a:ext cx="7158506" cy="312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9888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753600" cy="6172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Máscara Facial com Reservatório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Tal dispositivo destaca-se pelo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reservatório de oxigênio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 por um sistema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válvulas expiratória e inspiratória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que proporciona uma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Fi0² aproximada de 95% a 100% de oxigênio no fluxo de 12 a 15 L/min.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Ela é muito empregada em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situações de emergência e em Unidades de Terapia Intensiva (UTIs),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principalmente quando ocorre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hipoxemia moderada a grave,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 não há indicação de intubação.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Deve-se atentar para pacientes em uso de máscara com reservatório de oxigênio quanto ao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risco de diminuição do nível de consciência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assim como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risco de náuseas, vômitos e bronco aspiração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Para tanto, deve-se ter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dispositivos de sucção prontamente disponíveis. </a:t>
            </a:r>
            <a:endParaRPr lang="pt-BR" sz="18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352041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753600" cy="6172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Máscara Facial com Reservatório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C584A92A-9862-447E-B90D-735C5D067D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73920"/>
            <a:ext cx="9753600" cy="5441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707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753600" cy="6172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Bolsa Válvula Máscara - BVM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 reanimador respiratório do tipo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Bolsa-Válvula-Máscara (BVM)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permite a ventilação artificial levando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ar comprimido ou enriquecido de oxigênio por meio de uma máscara acoplada à face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do paciente 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bolsa auto insuflável com reservatório e válvula de segurança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conectado à fonte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oxigênio com </a:t>
            </a:r>
            <a:r>
              <a:rPr lang="pt-BR" sz="1800" b="1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fluxômetro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a 10 a 15 L/min.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 BVM possui uma válvula limitadora de pressão, ou válvula pop-off, para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adequar o pico de pressão (PIP).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Caso haja necessidade de empregar picos superiores, a válvula pode ser bloqueada.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Esse equipamento é utilizado quando um paciente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não respira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ou quando ele apresenta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dificuldades em ventilar efetivamente.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O BVM é encontrado em diversos tamanhos, adequando-se aos diferentes pacientes. Existem dispositivos específicos para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recém-nascidos, crianças e adultos. </a:t>
            </a:r>
            <a:endParaRPr lang="pt-BR" sz="1800" b="1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35532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143000"/>
            <a:ext cx="9753600" cy="6172200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Bolsa Válvula Máscara - BVM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CDDCE525-99AF-4DB7-BE84-582D61164E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947398"/>
            <a:ext cx="9753600" cy="5367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17364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Classificação</a:t>
            </a: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Para a administração de oxigênio, os sistemas de liberação de gás podem ser classificados em sistemas destinados a liberar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concentrações baixas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(menor que 35%),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moderadas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(35% a 60%) ou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altas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(maior que 60%). </a:t>
            </a: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6DF2BFA-0FB3-4201-B87A-E433C86123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971800"/>
            <a:ext cx="9753600" cy="4343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116892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 fontScale="92500" lnSpcReduction="20000"/>
          </a:bodyPr>
          <a:lstStyle/>
          <a:p>
            <a:pPr marL="0" indent="0" algn="ctr">
              <a:buNone/>
            </a:pPr>
            <a:r>
              <a:rPr lang="pt-BR" sz="240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Riscos</a:t>
            </a:r>
            <a:endParaRPr lang="pt-BR" sz="2400" b="0" i="0" u="none" strike="noStrike" baseline="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18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administração de oxigênio a </a:t>
            </a:r>
            <a:r>
              <a:rPr lang="pt-BR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100% </a:t>
            </a:r>
            <a:r>
              <a:rPr lang="pt-BR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 forma contínua e prolongada não é isenta de riscos. Embora o oxigênio seja vital, em altas concentrações ele se comporta como uma droga com efeitos colaterais sistêmicos, principalmente devido à formação de </a:t>
            </a:r>
            <a:r>
              <a:rPr lang="pt-BR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Espécies Reativas de Oxigênio (</a:t>
            </a:r>
            <a:r>
              <a:rPr lang="pt-BR" sz="19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EROs</a:t>
            </a:r>
            <a:r>
              <a:rPr lang="pt-BR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pt-BR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também conhecidas como radicais livres.</a:t>
            </a:r>
          </a:p>
          <a:p>
            <a:pPr algn="just"/>
            <a:endParaRPr lang="pt-BR" sz="19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Toxicidade Pulmonar (Efeito </a:t>
            </a:r>
            <a:r>
              <a:rPr lang="pt-BR" sz="19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Lorrain</a:t>
            </a:r>
            <a:r>
              <a:rPr lang="pt-B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Smith): </a:t>
            </a:r>
            <a:r>
              <a:rPr lang="pt-B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exposição prolongada a altas frações inspiradas de oxigênio causa danos diretos ao epitélio alveolar e ao endotélio capilar pulmonar.</a:t>
            </a:r>
          </a:p>
          <a:p>
            <a:endParaRPr lang="pt-B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Atelectasia por Absorção: </a:t>
            </a:r>
            <a:r>
              <a:rPr lang="pt-B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é um risco mecânico imediato. Normalmente, o nitrogênio no ar ambiente (78%) ajuda a manter os alvéolos abertos porque é absorvido lentamente pelo sangue.</a:t>
            </a:r>
          </a:p>
          <a:p>
            <a:pPr algn="just"/>
            <a:endParaRPr lang="pt-BR" sz="1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Efeitos Cardiovasculares e Neurológicos: </a:t>
            </a:r>
            <a:r>
              <a:rPr lang="pt-B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pt-BR" sz="19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hiperóxia</a:t>
            </a:r>
            <a:r>
              <a:rPr lang="pt-BR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causa vasoconstrição em diversos leitos vasculares: </a:t>
            </a:r>
            <a:r>
              <a:rPr lang="pt-BR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Vasoconstrição Coronariana; Vasoconstrição Cerebral. </a:t>
            </a:r>
            <a:r>
              <a:rPr lang="pt-BR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 endotélio produz NO, que normalmente </a:t>
            </a:r>
            <a:r>
              <a:rPr lang="pt-BR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dilata vasos</a:t>
            </a:r>
            <a:r>
              <a:rPr lang="pt-BR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O excesso de O₂ gera o aumento dos radicais livres e esses radicais </a:t>
            </a:r>
            <a:r>
              <a:rPr lang="pt-BR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inativam o NO</a:t>
            </a:r>
            <a:endParaRPr lang="pt-BR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pt-BR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Supressão do Drive Respiratório</a:t>
            </a:r>
            <a:r>
              <a:rPr lang="pt-BR" sz="1900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: </a:t>
            </a:r>
            <a:r>
              <a:rPr lang="pt-BR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Em pacientes com Doença Pulmonar Obstrutiva Crônica (</a:t>
            </a:r>
            <a:r>
              <a:rPr lang="pt-BR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DPOC</a:t>
            </a:r>
            <a:r>
              <a:rPr lang="pt-BR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ou retenção crônica de CO2 o estímulo para respirar depende da </a:t>
            </a:r>
            <a:r>
              <a:rPr lang="pt-BR" sz="19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hipoxemia</a:t>
            </a:r>
            <a:r>
              <a:rPr lang="pt-BR" sz="19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(baixos níveis de oxigênio).</a:t>
            </a:r>
            <a:endParaRPr lang="pt-BR" sz="19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pt-BR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727964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Oxímetro de Pulso</a:t>
            </a:r>
          </a:p>
          <a:p>
            <a:pPr marL="0" indent="0" algn="l">
              <a:buNone/>
            </a:pP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Nos últimos anos, significativamente aumentou o uso da oximetria de pulso no ambiente pré-hospitalar. A utilização adequada dos oxímetros de pulso permite aos Socorristas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detectar precocemente o comprometimento pulmonar e a deterioração cardiovascular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antes que os sinais clínicos sejam evidentes.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Os oxímetros de pulso são úteis no atendimento pré-hospitalar graças a sua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alta confiabilidade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portabilidade, facilidade de utilização e utilidade em todas as idades.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Quanto ao tipo de sensor empregado para aferição da oximetria, deve-se atentar para 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faixa etária do paciente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para adequada captação dos valores, havendo sensor de oxímetro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modelo adulto, infantil e neonatal. </a:t>
            </a:r>
          </a:p>
        </p:txBody>
      </p:sp>
    </p:spTree>
    <p:extLst>
      <p:ext uri="{BB962C8B-B14F-4D97-AF65-F5344CB8AC3E}">
        <p14:creationId xmlns:p14="http://schemas.microsoft.com/office/powerpoint/2010/main" val="419559311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 lnSpcReduction="10000"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Oxímetro de Pulso</a:t>
            </a:r>
          </a:p>
          <a:p>
            <a:pPr marL="0" indent="0" algn="l">
              <a:buNone/>
            </a:pP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Sua utilização é fácil: Ao ser ligado, o próprio aparelho realiza uma calibração interna, e posteriormente a essa calibração já está pronto para ser utilizado.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 sensor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não deve ser colocado no membro em que está sendo aferida a pressão arterial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pois a compressão dos vasos pelo esfigmomanômetro pode gerar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alterações de percepção pelo oxímetro de pulso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Diversos fatores podem interferir no correto funcionamento de um oxímetro, gerando a possibilidade de alteração em sua leitura, incluindo: </a:t>
            </a:r>
          </a:p>
          <a:p>
            <a:r>
              <a:rPr lang="pt-BR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Luz Ambiente;</a:t>
            </a: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Tremores;</a:t>
            </a:r>
          </a:p>
          <a:p>
            <a:r>
              <a:rPr lang="pt-BR" sz="1800" dirty="0">
                <a:solidFill>
                  <a:srgbClr val="000000"/>
                </a:solidFill>
                <a:latin typeface="Times New Roman" panose="02020603050405020304" pitchFamily="18" charset="0"/>
              </a:rPr>
              <a:t>Volume do Pulso;</a:t>
            </a:r>
          </a:p>
          <a:p>
            <a:r>
              <a:rPr lang="pt-BR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Vasoconstrição;</a:t>
            </a:r>
          </a:p>
          <a:p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Intoxicação por monóxido de carbono </a:t>
            </a:r>
          </a:p>
          <a:p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Assim como todos os equipamentos, oxímetros podem ocasionalmente e fornecer uma leitura falsa - caso esteja em dúvida, confie no seu julgamento clínico. </a:t>
            </a:r>
          </a:p>
        </p:txBody>
      </p:sp>
    </p:spTree>
    <p:extLst>
      <p:ext uri="{BB962C8B-B14F-4D97-AF65-F5344CB8AC3E}">
        <p14:creationId xmlns:p14="http://schemas.microsoft.com/office/powerpoint/2010/main" val="5746856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Oxímetro de Pulso</a:t>
            </a:r>
          </a:p>
          <a:p>
            <a:pPr marL="0" indent="0" algn="l">
              <a:buNone/>
            </a:pP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indent="0" algn="l">
              <a:buNone/>
            </a:pP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2" name="Tabela 2">
            <a:extLst>
              <a:ext uri="{FF2B5EF4-FFF2-40B4-BE49-F238E27FC236}">
                <a16:creationId xmlns:a16="http://schemas.microsoft.com/office/drawing/2014/main" id="{A07BBA0A-9340-4F34-AD13-D4760CB37B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373301"/>
              </p:ext>
            </p:extLst>
          </p:nvPr>
        </p:nvGraphicFramePr>
        <p:xfrm>
          <a:off x="1705038" y="1821396"/>
          <a:ext cx="6502400" cy="185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51200">
                  <a:extLst>
                    <a:ext uri="{9D8B030D-6E8A-4147-A177-3AD203B41FA5}">
                      <a16:colId xmlns:a16="http://schemas.microsoft.com/office/drawing/2014/main" val="3467332681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4065687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Saturação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Classificação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30806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95% – 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744232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91% - 94%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Hipóxia Leve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459597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86% - 90%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Hipóxia Moderada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62699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&lt; 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Hipóxia Grave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68045690"/>
                  </a:ext>
                </a:extLst>
              </a:tr>
            </a:tbl>
          </a:graphicData>
        </a:graphic>
      </p:graphicFrame>
      <p:pic>
        <p:nvPicPr>
          <p:cNvPr id="3" name="Imagem 2">
            <a:extLst>
              <a:ext uri="{FF2B5EF4-FFF2-40B4-BE49-F238E27FC236}">
                <a16:creationId xmlns:a16="http://schemas.microsoft.com/office/drawing/2014/main" id="{E5AB4D88-C71D-43BB-9234-E5132374B1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47800" y="3881105"/>
            <a:ext cx="3429000" cy="3225397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C81FA903-1599-4E79-B9D9-A34BD31F71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86400" y="4058502"/>
            <a:ext cx="30480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7695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Procedimento</a:t>
            </a:r>
          </a:p>
          <a:p>
            <a:pPr marL="0" indent="0" algn="l">
              <a:buNone/>
            </a:pP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Escolher adequadamente o sistema de oferta de 0²; </a:t>
            </a:r>
          </a:p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Proceder com técnicas de biossegurança; </a:t>
            </a:r>
          </a:p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Observar 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conexão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dos dispositivos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à rede de oxigênio hospitalar ou cilindros de 0²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os quais devem apresentar: válvulas para diminuir a pressão de 0², </a:t>
            </a:r>
            <a:r>
              <a:rPr lang="pt-BR" sz="1800" b="0" i="0" u="none" strike="noStrike" baseline="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fluxômetro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 para regular o volume em litros por minuto de 0² inspirado, conexão para o recipiente que armazenará a água bidestilada (ABD), de modo a promover a oferta, e 0² umidificado (umidificador); </a:t>
            </a:r>
          </a:p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Preencher o umidificador com ABD entre o volume máximo e mínimo como indicado no recipiente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;</a:t>
            </a:r>
          </a:p>
          <a:p>
            <a:pPr marL="0" indent="0" algn="just">
              <a:buNone/>
            </a:pP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Adaptar um látex ou borracha extensora estéril à fonte de 0², a qual será conectada ao dispositivo de oxigenoterapia indicado para a condição clínica do paciente; </a:t>
            </a:r>
          </a:p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Em seguida, adapta-se o dispositivo à face do paciente e regula-se o fluxo de 0² conforme necessário. </a:t>
            </a:r>
          </a:p>
        </p:txBody>
      </p:sp>
    </p:spTree>
    <p:extLst>
      <p:ext uri="{BB962C8B-B14F-4D97-AF65-F5344CB8AC3E}">
        <p14:creationId xmlns:p14="http://schemas.microsoft.com/office/powerpoint/2010/main" val="105318243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Aspiração</a:t>
            </a:r>
          </a:p>
          <a:p>
            <a:pPr marL="0" indent="0" algn="l">
              <a:buNone/>
            </a:pP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aspiração das vias aéreas superiores é uma técnica utilizada quando o paciente se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encontra incapacitado de realizar as eliminações das secreções de vias aéreas.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Na avaliação primária do paciente, ainda em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avaliação de vias aéreas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a boca deve ser inspecionada, se houver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secreção ou algum objeto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estes devem ser retirados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Tratando-se de objetos sólidos que possam ser visualizados, o socorrista pode utilizar os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dedos ou uma pinça para retirá-los. </a:t>
            </a:r>
          </a:p>
          <a:p>
            <a:pPr algn="just"/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alteração de decúbito do paciente, quando possível, pode se tornar uma aliada no processo de aspiração. 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ação da gravidade auxilia a saída das secreções 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quando o paciente está em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decúbito lateral, além de prevenir a bronco aspiração. </a:t>
            </a:r>
          </a:p>
          <a:p>
            <a:pPr algn="just"/>
            <a:endParaRPr lang="pt-BR" sz="18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 aspiração não deve ser feita por períodos prolongados, pois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pode gerar hipoxemia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principalmente em pacientes que estão sendo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oxigenados ou ventilados mecanicamente. </a:t>
            </a:r>
          </a:p>
          <a:p>
            <a:pPr algn="just"/>
            <a:endParaRPr lang="pt-BR" sz="1800" b="1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Durante o atendimento, se necessário, deve ser feita 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aspiração intercalada com oxigenoterapia ou ventilação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evitando assim alterações decorrentes da falta de oxigenação no paciente. </a:t>
            </a:r>
            <a:endParaRPr lang="pt-BR" sz="1800" b="1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06239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Agrupar 12">
            <a:extLst>
              <a:ext uri="{FF2B5EF4-FFF2-40B4-BE49-F238E27FC236}">
                <a16:creationId xmlns:a16="http://schemas.microsoft.com/office/drawing/2014/main" id="{E2D9C8FB-E0E8-0503-392D-CC6AFE861D88}"/>
              </a:ext>
            </a:extLst>
          </p:cNvPr>
          <p:cNvGrpSpPr/>
          <p:nvPr/>
        </p:nvGrpSpPr>
        <p:grpSpPr>
          <a:xfrm>
            <a:off x="7391400" y="-381000"/>
            <a:ext cx="2667000" cy="1386557"/>
            <a:chOff x="7391400" y="-381000"/>
            <a:chExt cx="2667000" cy="1386557"/>
          </a:xfrm>
          <a:solidFill>
            <a:srgbClr val="FF0000"/>
          </a:solidFill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id="{94593FE1-D277-4DAE-0C3B-2DCD45E6ACDB}"/>
                </a:ext>
              </a:extLst>
            </p:cNvPr>
            <p:cNvGrpSpPr/>
            <p:nvPr/>
          </p:nvGrpSpPr>
          <p:grpSpPr>
            <a:xfrm>
              <a:off x="7391400" y="-381000"/>
              <a:ext cx="2667000" cy="1386557"/>
              <a:chOff x="8062900" y="-406605"/>
              <a:chExt cx="1690700" cy="1386557"/>
            </a:xfrm>
            <a:grpFill/>
          </p:grpSpPr>
          <p:sp>
            <p:nvSpPr>
              <p:cNvPr id="8" name="Freeform 7">
                <a:extLst>
                  <a:ext uri="{FF2B5EF4-FFF2-40B4-BE49-F238E27FC236}">
                    <a16:creationId xmlns:a16="http://schemas.microsoft.com/office/drawing/2014/main" id="{2730A99B-21F4-64CF-F480-9AEE0D5F62C9}"/>
                  </a:ext>
                </a:extLst>
              </p:cNvPr>
              <p:cNvSpPr/>
              <p:nvPr/>
            </p:nvSpPr>
            <p:spPr>
              <a:xfrm>
                <a:off x="8062901" y="-406605"/>
                <a:ext cx="1690699" cy="1318810"/>
              </a:xfrm>
              <a:custGeom>
                <a:avLst/>
                <a:gdLst/>
                <a:ahLst/>
                <a:cxnLst/>
                <a:rect l="l" t="t" r="r" b="b"/>
                <a:pathLst>
                  <a:path w="2901555" h="488448">
                    <a:moveTo>
                      <a:pt x="35576" y="0"/>
                    </a:moveTo>
                    <a:lnTo>
                      <a:pt x="2865979" y="0"/>
                    </a:lnTo>
                    <a:cubicBezTo>
                      <a:pt x="2875414" y="0"/>
                      <a:pt x="2884463" y="3748"/>
                      <a:pt x="2891135" y="10420"/>
                    </a:cubicBezTo>
                    <a:cubicBezTo>
                      <a:pt x="2897806" y="17092"/>
                      <a:pt x="2901555" y="26141"/>
                      <a:pt x="2901555" y="35576"/>
                    </a:cubicBezTo>
                    <a:lnTo>
                      <a:pt x="2901555" y="452872"/>
                    </a:lnTo>
                    <a:cubicBezTo>
                      <a:pt x="2901555" y="462307"/>
                      <a:pt x="2897806" y="471356"/>
                      <a:pt x="2891135" y="478028"/>
                    </a:cubicBezTo>
                    <a:cubicBezTo>
                      <a:pt x="2884463" y="484700"/>
                      <a:pt x="2875414" y="488448"/>
                      <a:pt x="2865979" y="488448"/>
                    </a:cubicBezTo>
                    <a:lnTo>
                      <a:pt x="35576" y="488448"/>
                    </a:lnTo>
                    <a:cubicBezTo>
                      <a:pt x="15928" y="488448"/>
                      <a:pt x="0" y="472520"/>
                      <a:pt x="0" y="452872"/>
                    </a:cubicBezTo>
                    <a:lnTo>
                      <a:pt x="0" y="35576"/>
                    </a:lnTo>
                    <a:cubicBezTo>
                      <a:pt x="0" y="26141"/>
                      <a:pt x="3748" y="17092"/>
                      <a:pt x="10420" y="10420"/>
                    </a:cubicBezTo>
                    <a:cubicBezTo>
                      <a:pt x="17092" y="3748"/>
                      <a:pt x="26141" y="0"/>
                      <a:pt x="35576" y="0"/>
                    </a:cubicBezTo>
                    <a:close/>
                  </a:path>
                </a:pathLst>
              </a:custGeom>
              <a:grpFill/>
            </p:spPr>
            <p:txBody>
              <a:bodyPr/>
              <a:lstStyle/>
              <a:p>
                <a:endParaRPr lang="pt-BR">
                  <a:solidFill>
                    <a:schemeClr val="bg1"/>
                  </a:solidFill>
                </a:endParaRPr>
              </a:p>
            </p:txBody>
          </p:sp>
          <p:pic>
            <p:nvPicPr>
              <p:cNvPr id="6" name="Picture 10">
                <a:extLst>
                  <a:ext uri="{FF2B5EF4-FFF2-40B4-BE49-F238E27FC236}">
                    <a16:creationId xmlns:a16="http://schemas.microsoft.com/office/drawing/2014/main" id="{CC1ADE89-CA30-C87C-8A82-2151C0F3921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rcRect/>
              <a:stretch>
                <a:fillRect/>
              </a:stretch>
            </p:blipFill>
            <p:spPr>
              <a:xfrm>
                <a:off x="8206388" y="126795"/>
                <a:ext cx="786295" cy="659408"/>
              </a:xfrm>
              <a:prstGeom prst="rect">
                <a:avLst/>
              </a:prstGeom>
              <a:grpFill/>
            </p:spPr>
          </p:pic>
          <p:sp>
            <p:nvSpPr>
              <p:cNvPr id="7" name="Retângulo: Cantos Arredondados 6">
                <a:extLst>
                  <a:ext uri="{FF2B5EF4-FFF2-40B4-BE49-F238E27FC236}">
                    <a16:creationId xmlns:a16="http://schemas.microsoft.com/office/drawing/2014/main" id="{56D3AB08-2686-3A15-1F23-D6B0EDB88079}"/>
                  </a:ext>
                </a:extLst>
              </p:cNvPr>
              <p:cNvSpPr/>
              <p:nvPr/>
            </p:nvSpPr>
            <p:spPr>
              <a:xfrm>
                <a:off x="8062900" y="778793"/>
                <a:ext cx="1690699" cy="201159"/>
              </a:xfrm>
              <a:prstGeom prst="roundRect">
                <a:avLst>
                  <a:gd name="adj" fmla="val 50000"/>
                </a:avLst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bg1"/>
                  </a:solidFill>
                </a:endParaRPr>
              </a:p>
            </p:txBody>
          </p:sp>
        </p:grpSp>
        <p:pic>
          <p:nvPicPr>
            <p:cNvPr id="10" name="Picture 2">
              <a:extLst>
                <a:ext uri="{FF2B5EF4-FFF2-40B4-BE49-F238E27FC236}">
                  <a16:creationId xmlns:a16="http://schemas.microsoft.com/office/drawing/2014/main" id="{73EA6E99-573B-1EFF-DF3C-87790A973F8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962139" y="195585"/>
              <a:ext cx="562861" cy="608813"/>
            </a:xfrm>
            <a:prstGeom prst="rect">
              <a:avLst/>
            </a:prstGeom>
            <a:grpFill/>
          </p:spPr>
        </p:pic>
      </p:grpSp>
      <p:sp>
        <p:nvSpPr>
          <p:cNvPr id="11" name="Título 10">
            <a:extLst>
              <a:ext uri="{FF2B5EF4-FFF2-40B4-BE49-F238E27FC236}">
                <a16:creationId xmlns:a16="http://schemas.microsoft.com/office/drawing/2014/main" id="{7BF90532-C43E-EE8B-96C3-ADC2CDC684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Oxigenoterapia</a:t>
            </a:r>
          </a:p>
        </p:txBody>
      </p:sp>
      <p:sp>
        <p:nvSpPr>
          <p:cNvPr id="12" name="Espaço Reservado para Conteúdo 11">
            <a:extLst>
              <a:ext uri="{FF2B5EF4-FFF2-40B4-BE49-F238E27FC236}">
                <a16:creationId xmlns:a16="http://schemas.microsoft.com/office/drawing/2014/main" id="{8A75005C-E69C-6960-41F3-58D86395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1341568"/>
            <a:ext cx="9753600" cy="597363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pt-BR" sz="2400" b="0" i="0" u="none" strike="noStrike" baseline="0" dirty="0">
                <a:solidFill>
                  <a:srgbClr val="2E2E2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Aspiração</a:t>
            </a:r>
          </a:p>
          <a:p>
            <a:pPr marL="0" indent="0" algn="ctr">
              <a:buNone/>
            </a:pPr>
            <a:endParaRPr lang="pt-BR" sz="240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O procedimento deve ser feito conforme a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necessidade do paciente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para a proteção individual do Socorrista é necessário o uso de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máscara, gorro, óculos, e luva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A sequência de aspiração segue a orientação geral, da região menos contaminada para o mais contaminado, ou seja, do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nariz para a cavidade oral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A introdução da sonda se dá pelo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canto lateral da boca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, próxima às bochechas, mas sem lesioná-las. Dessa forma, </a:t>
            </a:r>
            <a:r>
              <a:rPr lang="pt-BR" sz="1800" b="1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evita-se a área sobre a língua, que estimula o reflexo do vômito</a:t>
            </a:r>
            <a:r>
              <a:rPr lang="pt-BR" sz="1800" b="0" i="0" u="none" strike="noStrike" baseline="0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pt-BR" sz="2400" b="0" i="0" u="none" strike="noStrike" baseline="0" dirty="0">
              <a:solidFill>
                <a:srgbClr val="2E2E2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buNone/>
            </a:pPr>
            <a:endParaRPr lang="pt-BR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C9965FA-B75F-4823-9722-CC80815CC1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4267200"/>
            <a:ext cx="9753600" cy="304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14935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4028253" y="4990167"/>
            <a:ext cx="1697093" cy="128568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pt-BR"/>
          </a:p>
        </p:txBody>
      </p:sp>
      <p:sp>
        <p:nvSpPr>
          <p:cNvPr id="4" name="AutoShape 4"/>
          <p:cNvSpPr/>
          <p:nvPr/>
        </p:nvSpPr>
        <p:spPr>
          <a:xfrm>
            <a:off x="4028253" y="2197702"/>
            <a:ext cx="1697093" cy="128568"/>
          </a:xfrm>
          <a:prstGeom prst="rect">
            <a:avLst/>
          </a:prstGeom>
          <a:solidFill>
            <a:srgbClr val="C00000"/>
          </a:solidFill>
        </p:spPr>
        <p:txBody>
          <a:bodyPr/>
          <a:lstStyle/>
          <a:p>
            <a:endParaRPr lang="pt-BR"/>
          </a:p>
        </p:txBody>
      </p:sp>
      <p:sp>
        <p:nvSpPr>
          <p:cNvPr id="5" name="TextBox 5"/>
          <p:cNvSpPr txBox="1"/>
          <p:nvPr/>
        </p:nvSpPr>
        <p:spPr>
          <a:xfrm>
            <a:off x="838200" y="2326270"/>
            <a:ext cx="1371600" cy="1196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61"/>
              </a:lnSpc>
            </a:pPr>
            <a:r>
              <a:rPr lang="en-US" sz="12000" spc="123" dirty="0">
                <a:solidFill>
                  <a:srgbClr val="FF0000"/>
                </a:solidFill>
                <a:latin typeface="Oswald Bold"/>
              </a:rPr>
              <a:t>“</a:t>
            </a:r>
          </a:p>
        </p:txBody>
      </p:sp>
      <p:sp>
        <p:nvSpPr>
          <p:cNvPr id="21" name="TextBox 5">
            <a:extLst>
              <a:ext uri="{FF2B5EF4-FFF2-40B4-BE49-F238E27FC236}">
                <a16:creationId xmlns:a16="http://schemas.microsoft.com/office/drawing/2014/main" id="{B7E38F09-4989-4002-1884-475CD01A38E8}"/>
              </a:ext>
            </a:extLst>
          </p:cNvPr>
          <p:cNvSpPr txBox="1"/>
          <p:nvPr/>
        </p:nvSpPr>
        <p:spPr>
          <a:xfrm>
            <a:off x="7772400" y="5118735"/>
            <a:ext cx="1371600" cy="119686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8661"/>
              </a:lnSpc>
            </a:pPr>
            <a:r>
              <a:rPr lang="en-US" sz="12000" spc="123" dirty="0">
                <a:solidFill>
                  <a:srgbClr val="FF0000"/>
                </a:solidFill>
                <a:latin typeface="Oswald Bold"/>
              </a:rPr>
              <a:t>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CCEC65-DD0C-230F-1932-5B2A8AC163FC}"/>
              </a:ext>
            </a:extLst>
          </p:cNvPr>
          <p:cNvSpPr txBox="1"/>
          <p:nvPr/>
        </p:nvSpPr>
        <p:spPr>
          <a:xfrm>
            <a:off x="749426" y="3165776"/>
            <a:ext cx="8254745" cy="9848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pt-BR" sz="3200" b="0" i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ACADEMIA </a:t>
            </a:r>
            <a:r>
              <a:rPr lang="pt-BR" sz="3200" b="0" i="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BOMBEIRO MILITAR</a:t>
            </a:r>
          </a:p>
          <a:p>
            <a:pPr algn="ctr">
              <a:lnSpc>
                <a:spcPct val="100000"/>
              </a:lnSpc>
            </a:pPr>
            <a:r>
              <a:rPr lang="pt-BR" sz="3200" strike="noStrike" spc="-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Aqui se aprende a comandar heróis!</a:t>
            </a:r>
          </a:p>
        </p:txBody>
      </p:sp>
    </p:spTree>
    <p:extLst>
      <p:ext uri="{BB962C8B-B14F-4D97-AF65-F5344CB8AC3E}">
        <p14:creationId xmlns:p14="http://schemas.microsoft.com/office/powerpoint/2010/main" val="24951282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4792</TotalTime>
  <Words>2254</Words>
  <Application>Microsoft Office PowerPoint</Application>
  <PresentationFormat>Personalizar</PresentationFormat>
  <Paragraphs>179</Paragraphs>
  <Slides>25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0" baseType="lpstr">
      <vt:lpstr>Times New Roman</vt:lpstr>
      <vt:lpstr>Calibri</vt:lpstr>
      <vt:lpstr>Arial</vt:lpstr>
      <vt:lpstr>Oswald Bold</vt:lpstr>
      <vt:lpstr>Office Theme</vt:lpstr>
      <vt:lpstr>Apresentação do PowerPoint</vt:lpstr>
      <vt:lpstr>Apresentação do PowerPoint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Oxigenoterapia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Visão</dc:title>
  <dc:creator>Jamile Oliveira</dc:creator>
  <cp:lastModifiedBy>MATHEUS</cp:lastModifiedBy>
  <cp:revision>96</cp:revision>
  <dcterms:created xsi:type="dcterms:W3CDTF">2006-08-16T00:00:00Z</dcterms:created>
  <dcterms:modified xsi:type="dcterms:W3CDTF">2026-06-02T15:18:33Z</dcterms:modified>
  <dc:identifier>DAFWnceJbA0</dc:identifier>
</cp:coreProperties>
</file>