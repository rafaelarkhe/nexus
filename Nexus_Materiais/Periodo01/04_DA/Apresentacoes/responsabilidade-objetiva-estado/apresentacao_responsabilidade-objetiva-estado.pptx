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7" r:id="rId17"/>
    <p:sldId id="268" r:id="rId18"/>
    <p:sldId id="265" r:id="rId15"/>
    <p:sldId id="266" r:id="rId16"/>
    <p:sldId id="271" r:id="rId21"/>
  </p:sldIdLst>
  <p:sldSz cy="7315200" cx="13004800"/>
  <p:notesSz cx="6858000" cy="9144000"/>
  <p:embeddedFontLst>
    <p:embeddedFont>
      <p:font typeface="Oswal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FKzEg9xcm3d/VgVO0Bo7rMHpc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Oswald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8" name="Google Shape;28;p9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9" name="Google Shape;29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963084" y="2906714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2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2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609601" y="1435100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7285039" y="1828801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1697039" y="-812800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653854" y="6029103"/>
            <a:ext cx="1697093" cy="1285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3854" y="2197702"/>
            <a:ext cx="1697093" cy="1285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90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625600" y="2560692"/>
            <a:ext cx="97536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Responsabilidade Objetiva do Estado</a:t>
            </a:r>
            <a:endParaRPr b="1" i="0" sz="4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238990" y="5041979"/>
            <a:ext cx="8526820" cy="8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Direito Administrativo I, CFO Turma 16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4002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TCEL QOEM BM Xavier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238990" y="6308245"/>
            <a:ext cx="8526820" cy="479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1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Junho de 2026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293939" y="-98446"/>
            <a:ext cx="12416922" cy="3254805"/>
            <a:chOff x="0" y="-47625"/>
            <a:chExt cx="2901555" cy="860425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2901555" cy="488448"/>
            </a:xfrm>
            <a:custGeom>
              <a:rect b="b" l="l" r="r" t="t"/>
              <a:pathLst>
                <a:path extrusionOk="0" h="488448" w="2901555">
                  <a:moveTo>
                    <a:pt x="35576" y="0"/>
                  </a:moveTo>
                  <a:lnTo>
                    <a:pt x="2865979" y="0"/>
                  </a:lnTo>
                  <a:cubicBezTo>
                    <a:pt x="2875414" y="0"/>
                    <a:pt x="2884463" y="3748"/>
                    <a:pt x="2891135" y="10420"/>
                  </a:cubicBezTo>
                  <a:cubicBezTo>
                    <a:pt x="2897806" y="17092"/>
                    <a:pt x="2901555" y="26141"/>
                    <a:pt x="2901555" y="35576"/>
                  </a:cubicBezTo>
                  <a:lnTo>
                    <a:pt x="2901555" y="452872"/>
                  </a:lnTo>
                  <a:cubicBezTo>
                    <a:pt x="2901555" y="462307"/>
                    <a:pt x="2897806" y="471356"/>
                    <a:pt x="2891135" y="478028"/>
                  </a:cubicBezTo>
                  <a:cubicBezTo>
                    <a:pt x="2884463" y="484700"/>
                    <a:pt x="2875414" y="488448"/>
                    <a:pt x="2865979" y="488448"/>
                  </a:cubicBezTo>
                  <a:lnTo>
                    <a:pt x="35576" y="488448"/>
                  </a:lnTo>
                  <a:cubicBezTo>
                    <a:pt x="15928" y="488448"/>
                    <a:pt x="0" y="472520"/>
                    <a:pt x="0" y="452872"/>
                  </a:cubicBezTo>
                  <a:lnTo>
                    <a:pt x="0" y="35576"/>
                  </a:lnTo>
                  <a:cubicBezTo>
                    <a:pt x="0" y="26141"/>
                    <a:pt x="3748" y="17092"/>
                    <a:pt x="10420" y="10420"/>
                  </a:cubicBezTo>
                  <a:cubicBezTo>
                    <a:pt x="17092" y="3748"/>
                    <a:pt x="26141" y="0"/>
                    <a:pt x="35576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1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"/>
          <p:cNvSpPr txBox="1"/>
          <p:nvPr/>
        </p:nvSpPr>
        <p:spPr>
          <a:xfrm>
            <a:off x="1728506" y="121636"/>
            <a:ext cx="9620196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CORPO DE BOMBEIROS MILITAR DO PARÁ E</a:t>
            </a:r>
            <a:endParaRPr b="1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COORDENADORIA ESTADUAL DE PROTEÇÃO E DEFESA CIVIL</a:t>
            </a:r>
            <a:endParaRPr b="1" i="0" sz="2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DEPARTAMENTO-GERAL DE CULTURA, EDUCAÇÃO E PESQUISA</a:t>
            </a:r>
            <a:endParaRPr b="1" i="0" sz="2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ACADEMIA DE BOMBEIRO MILITAR</a:t>
            </a:r>
            <a:endParaRPr b="1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905" y="324013"/>
            <a:ext cx="2218615" cy="1123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61896" y="330450"/>
            <a:ext cx="1010842" cy="130592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61804" y="4225820"/>
            <a:ext cx="975360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Curso de Formação de Oficiais BM 2026 – Turma 16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3245869" cy="7315200"/>
          </a:xfrm>
          <a:prstGeom prst="rect">
            <a:avLst/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90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Google Shape;105;p2"/>
          <p:cNvGrpSpPr/>
          <p:nvPr/>
        </p:nvGrpSpPr>
        <p:grpSpPr>
          <a:xfrm>
            <a:off x="3759201" y="1194385"/>
            <a:ext cx="8045289" cy="1527511"/>
            <a:chOff x="2795" y="0"/>
            <a:chExt cx="10727053" cy="2036682"/>
          </a:xfrm>
        </p:grpSpPr>
        <p:grpSp>
          <p:nvGrpSpPr>
            <p:cNvPr id="106" name="Google Shape;106;p2"/>
            <p:cNvGrpSpPr/>
            <p:nvPr/>
          </p:nvGrpSpPr>
          <p:grpSpPr>
            <a:xfrm>
              <a:off x="2795" y="0"/>
              <a:ext cx="1247660" cy="1253252"/>
              <a:chOff x="1813" y="0"/>
              <a:chExt cx="809173" cy="812800"/>
            </a:xfrm>
          </p:grpSpPr>
          <p:sp>
            <p:nvSpPr>
              <p:cNvPr id="107" name="Google Shape;107;p2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690918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  <p:sp>
            <p:nvSpPr>
              <p:cNvPr id="108" name="Google Shape;108;p2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888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pic>
          <p:nvPicPr>
            <p:cNvPr id="109" name="Google Shape;10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5862" y="259766"/>
              <a:ext cx="541528" cy="7211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2"/>
            <p:cNvSpPr txBox="1"/>
            <p:nvPr/>
          </p:nvSpPr>
          <p:spPr>
            <a:xfrm>
              <a:off x="1669371" y="1117455"/>
              <a:ext cx="9039838" cy="91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42900" lvl="0" marL="34290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Apresentar o regime de responsabilidade objetiva do Estado e seu fundamento constitucional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just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Relacionar requisitos, limites e hipóteses de responsabilidade à atuação do Oficial BM, inclusive fora de serviço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1669371" y="328811"/>
              <a:ext cx="9060477" cy="648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3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C00000"/>
                  </a:solidFill>
                  <a:latin typeface="Cambria"/>
                  <a:ea typeface="Cambria"/>
                  <a:cs typeface="Cambria"/>
                  <a:sym typeface="Cambria"/>
                </a:rPr>
                <a:t>Objetivos</a:t>
              </a:r>
              <a:endParaRPr b="1" i="0" sz="2799" u="none" cap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3759201" y="3491633"/>
            <a:ext cx="8045335" cy="2080570"/>
            <a:chOff x="2795" y="-244268"/>
            <a:chExt cx="10727115" cy="2774093"/>
          </a:xfrm>
        </p:grpSpPr>
        <p:grpSp>
          <p:nvGrpSpPr>
            <p:cNvPr id="113" name="Google Shape;113;p2"/>
            <p:cNvGrpSpPr/>
            <p:nvPr/>
          </p:nvGrpSpPr>
          <p:grpSpPr>
            <a:xfrm>
              <a:off x="2795" y="-244268"/>
              <a:ext cx="1247660" cy="1497520"/>
              <a:chOff x="1813" y="-158421"/>
              <a:chExt cx="809173" cy="971221"/>
            </a:xfrm>
          </p:grpSpPr>
          <p:sp>
            <p:nvSpPr>
              <p:cNvPr id="114" name="Google Shape;114;p2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  <p:sp>
            <p:nvSpPr>
              <p:cNvPr id="115" name="Google Shape;115;p2"/>
              <p:cNvSpPr txBox="1"/>
              <p:nvPr/>
            </p:nvSpPr>
            <p:spPr>
              <a:xfrm>
                <a:off x="74386" y="-158421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888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sp>
          <p:nvSpPr>
            <p:cNvPr id="116" name="Google Shape;116;p2"/>
            <p:cNvSpPr txBox="1"/>
            <p:nvPr/>
          </p:nvSpPr>
          <p:spPr>
            <a:xfrm>
              <a:off x="1690010" y="1151025"/>
              <a:ext cx="9039900" cy="137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92100" lvl="0" marL="34290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Conceito, evolução teórica e fundamento constitucional</a:t>
              </a:r>
              <a:r>
                <a:rPr lang="en-US" sz="2000">
                  <a:latin typeface="Cambria"/>
                  <a:ea typeface="Cambria"/>
                  <a:cs typeface="Cambria"/>
                  <a:sym typeface="Cambria"/>
                </a:rP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342900" marR="0" rtl="0" algn="just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Reparação do dano e direito de regresso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342900" marR="0" rtl="0" algn="just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Causas de exclusão e atenuação da responsabilidade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342900" marR="0" rtl="0" algn="just">
                <a:lnSpc>
                  <a:spcPct val="100000"/>
                </a:lnSpc>
                <a:spcBef>
                  <a:spcPts val="16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Casos de resgate e responsabilidade do bombeiro de folga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1690011" y="362381"/>
              <a:ext cx="9039837" cy="648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3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C00000"/>
                  </a:solidFill>
                  <a:latin typeface="Cambria"/>
                  <a:ea typeface="Cambria"/>
                  <a:cs typeface="Cambria"/>
                  <a:sym typeface="Cambria"/>
                </a:rPr>
                <a:t>Conteúdo a ser abordado</a:t>
              </a:r>
              <a:endParaRPr b="1" i="0" sz="2799" u="none" cap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pic>
        <p:nvPicPr>
          <p:cNvPr id="118" name="Google Shape;118;p2"/>
          <p:cNvPicPr preferRelativeResize="0"/>
          <p:nvPr/>
        </p:nvPicPr>
        <p:blipFill rotWithShape="1">
          <a:blip r:embed="rId4">
            <a:alphaModFix/>
          </a:blip>
          <a:srcRect b="21467" l="2817" r="50313" t="22234"/>
          <a:stretch/>
        </p:blipFill>
        <p:spPr>
          <a:xfrm>
            <a:off x="3939702" y="3840480"/>
            <a:ext cx="581499" cy="5238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2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20" name="Google Shape;120;p2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21" name="Google Shape;121;p2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2" name="Google Shape;122;p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" name="Google Shape;123;p2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24" name="Google Shape;124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3200" b="1">
                <a:latin typeface="Cambria"/>
                <a:ea typeface="Cambria"/>
                <a:cs typeface="Cambria"/>
                <a:sym typeface="Cambria"/>
              </a:rPr>
              <a:t>Conceito</a:t>
            </a:r>
            <a:endParaRPr lang="pt-BR" sz="3200"/>
          </a:p>
        </p:txBody>
      </p:sp>
      <p:sp>
        <p:nvSpPr>
          <p:cNvPr id="130" name="Google Shape;130;p3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200" b="1">
                <a:latin typeface="Cambria"/>
                <a:ea typeface="Cambria"/>
                <a:cs typeface="Cambria"/>
                <a:sym typeface="Cambria"/>
              </a:rPr>
              <a:t>Responsabilidade objetiva é o dever do Estado de indenizar danos causados por seus agentes a terceiros, sem que a vítima precise provar dolo ou culpa.</a:t>
            </a:r>
            <a:endParaRPr lang="pt-BR" sz="22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Ela alcança danos morais e patrimoniais, desde que o agente público tenha causado o dano atuando nessa qualidade.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Para configurar o dever de indenizar bastam três elementos: a conduta do agente, o dano sofrido pelo terceiro e o nexo causal entre os dois.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b="1">
                <a:latin typeface="Cambria"/>
                <a:ea typeface="Cambria"/>
                <a:cs typeface="Cambria"/>
                <a:sym typeface="Cambria"/>
              </a:rPr>
              <a:t>Nexo causal</a:t>
            </a: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 é o liame que liga a conduta estatal ao dano. Comprovados os três elementos, o Estado responde, mesmo sem culpa de ninguém.</a:t>
            </a:r>
            <a:endParaRPr lang="pt-BR" sz="2000"/>
          </a:p>
        </p:txBody>
      </p:sp>
      <p:grpSp>
        <p:nvGrpSpPr>
          <p:cNvPr id="131" name="Google Shape;131;p3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32" name="Google Shape;132;p3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33" name="Google Shape;133;p3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4" name="Google Shape;134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" name="Google Shape;135;p3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6" name="Google Shape;136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3200" b="1">
                <a:latin typeface="Cambria"/>
                <a:ea typeface="Cambria"/>
                <a:cs typeface="Cambria"/>
                <a:sym typeface="Cambria"/>
              </a:rPr>
              <a:t>Evolução Teórica</a:t>
            </a:r>
            <a:endParaRPr lang="pt-BR" sz="3200"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200" b="1">
                <a:latin typeface="Cambria"/>
                <a:ea typeface="Cambria"/>
                <a:cs typeface="Cambria"/>
                <a:sym typeface="Cambria"/>
              </a:rPr>
              <a:t>A responsabilidade objetiva não nasceu pronta. O Brasil passou por quatro modelos diferentes até chegar a ela.</a:t>
            </a:r>
            <a:endParaRPr lang="pt-BR" sz="22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1. Negar qualquer responsabilidade do Estado, na teoria da Irresponsabilidade: o Poder Público não respondia pelos próprios atos.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2. Equiparar o Estado ao particular, na teoria Civilista, exigindo prova de dolo ou culpa do agente e separando atos de império, não indenizáveis, de atos de gestão, indenizáveis.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3. Atribuir a falha ao serviço, não ao agente, na teoria da Culpa Administrativa (faute du service): o serviço não funcionou, funcionou mal ou atrasou, sem precisar identificar quem errou.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4. Dispensar a prova de culpa, na teoria do Risco Administrativo: a regra atual, que ainda admite causas que afastam ou atenuam a responsabilidade.</a:t>
            </a:r>
            <a:endParaRPr lang="pt-BR" sz="2000"/>
          </a:p>
        </p:txBody>
      </p:sp>
      <p:grpSp>
        <p:nvGrpSpPr>
          <p:cNvPr id="143" name="Google Shape;143;p18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44" name="Google Shape;144;p18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45" name="Google Shape;145;p18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46" name="Google Shape;146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" name="Google Shape;147;p18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48" name="Google Shape;148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3200" b="1">
                <a:latin typeface="Cambria"/>
                <a:ea typeface="Cambria"/>
                <a:cs typeface="Cambria"/>
                <a:sym typeface="Cambria"/>
              </a:rPr>
              <a:t>Fundamento Constitucional</a:t>
            </a:r>
            <a:endParaRPr lang="pt-BR" sz="3200"/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800" b="1">
                <a:latin typeface="Cambria"/>
                <a:ea typeface="Cambria"/>
                <a:cs typeface="Cambria"/>
                <a:sym typeface="Cambria"/>
              </a:rPr>
              <a:t>Art. 37, §6º, CF/88</a:t>
            </a:r>
            <a:endParaRPr lang="pt-BR" sz="2800"/>
          </a:p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000" i="1">
                <a:latin typeface="Cambria"/>
                <a:ea typeface="Cambria"/>
                <a:cs typeface="Cambria"/>
                <a:sym typeface="Cambria"/>
              </a:rPr>
              <a:t>“As pessoas jurídicas de direito público e as de direito privado prestadoras de serviços públicos responderão pelos danos que seus agentes, nessa qualidade, causarem a terceiros, assegurado o direito de regresso contra o responsável nos casos de dolo ou culpa.”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A regra alcança a administração direta, autarquias, fundações públicas e empresas privadas que prestam serviço público por concessão ou permissão.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Estatais que exploram atividade econômica ficam fora dessa regra e respondem como qualquer empresa, pelo Direito Civil.</a:t>
            </a:r>
            <a:endParaRPr lang="pt-BR" sz="2000"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56" name="Google Shape;156;p19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57" name="Google Shape;157;p19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58" name="Google Shape;158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9" name="Google Shape;159;p19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60" name="Google Shape;160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3200" b="1">
                <a:latin typeface="Cambria"/>
                <a:ea typeface="Cambria"/>
                <a:cs typeface="Cambria"/>
                <a:sym typeface="Cambria"/>
              </a:rPr>
              <a:t>Reparação do Dano</a:t>
            </a:r>
            <a:endParaRPr lang="pt-BR" sz="3200"/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200" b="1">
                <a:latin typeface="Cambria"/>
                <a:ea typeface="Cambria"/>
                <a:cs typeface="Cambria"/>
                <a:sym typeface="Cambria"/>
              </a:rPr>
              <a:t>A Teoria da Dupla Garantia determina que a vítima processe o Estado, e não o agente público que causou o dano, diretamente.</a:t>
            </a:r>
            <a:endParaRPr lang="pt-BR" sz="22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A indenização cobre danos materiais, tanto o que a vítima perdeu quanto o que deixou de ganhar, além de eventuais danos morais.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O prazo geral para o terceiro lesado acionar o Estado é de cinco anos.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Se o agente tiver agido com dolo ou culpa, o Estado pode cobrar dele depois, na ação de regresso, tema do próximo slide.</a:t>
            </a:r>
            <a:endParaRPr lang="pt-BR" sz="2000"/>
          </a:p>
        </p:txBody>
      </p:sp>
      <p:grpSp>
        <p:nvGrpSpPr>
          <p:cNvPr id="167" name="Google Shape;167;p20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68" name="Google Shape;168;p20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69" name="Google Shape;169;p20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70" name="Google Shape;170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" name="Google Shape;171;p20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72" name="Google Shape;172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3200" b="1">
                <a:latin typeface="Cambria"/>
                <a:ea typeface="Cambria"/>
                <a:cs typeface="Cambria"/>
                <a:sym typeface="Cambria"/>
              </a:rPr>
              <a:t>Direito de Regresso</a:t>
            </a:r>
            <a:endParaRPr lang="pt-BR" sz="3200"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200" b="1">
                <a:latin typeface="Cambria"/>
                <a:ea typeface="Cambria"/>
                <a:cs typeface="Cambria"/>
                <a:sym typeface="Cambria"/>
              </a:rPr>
              <a:t>Depois de indenizar a vítima, o Estado tem o direito, e o dever, de cobrar do agente público o valor que pagou.</a:t>
            </a:r>
            <a:endParaRPr lang="pt-BR" sz="22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Diferente da responsabilidade do Estado, a responsabilidade do agente no regresso é subjetiva: exige prova de dolo ou culpa.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A ação de regresso depende de dois requisitos: a condenação do Estado a indenizar e a comprovação de dolo ou culpa do agente.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Se o agente falecer, a obrigação de ressarcir passa aos seus sucessores, até o limite do patrimônio que herdarem.</a:t>
            </a:r>
            <a:endParaRPr lang="pt-BR" sz="2000"/>
          </a:p>
        </p:txBody>
      </p:sp>
      <p:grpSp>
        <p:nvGrpSpPr>
          <p:cNvPr id="179" name="Google Shape;179;p21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80" name="Google Shape;180;p21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81" name="Google Shape;181;p21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82" name="Google Shape;182;p2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3" name="Google Shape;183;p21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84" name="Google Shape;184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4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90" name="Google Shape;190;p4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91" name="Google Shape;191;p4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92" name="Google Shape;192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3" name="Google Shape;193;p4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94" name="Google Shape;194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4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3200" b="1">
                <a:latin typeface="Cambria"/>
                <a:ea typeface="Cambria"/>
                <a:cs typeface="Cambria"/>
                <a:sym typeface="Cambria"/>
              </a:rPr>
              <a:t>Causas de Exclusão e Atenuação</a:t>
            </a:r>
            <a:endParaRPr lang="pt-BR" sz="3200"/>
          </a:p>
        </p:txBody>
      </p:sp>
      <p:sp>
        <p:nvSpPr>
          <p:cNvPr id="196" name="Google Shape;196;p4"/>
          <p:cNvSpPr txBox="1"/>
          <p:nvPr>
            <p:ph idx="1" type="body"/>
          </p:nvPr>
        </p:nvSpPr>
        <p:spPr>
          <a:xfrm>
            <a:off x="548640" y="1545975"/>
            <a:ext cx="5725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800" i="1">
                <a:latin typeface="Cambria"/>
                <a:ea typeface="Cambria"/>
                <a:cs typeface="Cambria"/>
                <a:sym typeface="Cambria"/>
              </a:rPr>
              <a:t>A responsabilidade objetiva não é absoluta. O Estado pode se eximir ou reduzir o encargo quando o nexo causal é rompido ou abrandado.</a:t>
            </a:r>
            <a:endParaRPr lang="pt-BR" sz="1800"/>
          </a:p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200" b="1">
                <a:latin typeface="Cambria"/>
                <a:ea typeface="Cambria"/>
                <a:cs typeface="Cambria"/>
                <a:sym typeface="Cambria"/>
              </a:rPr>
              <a:t>Excludentes (afastam o dever de indenizar)</a:t>
            </a:r>
            <a:endParaRPr lang="pt-BR" sz="22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>
                <a:latin typeface="Cambria"/>
                <a:ea typeface="Cambria"/>
                <a:cs typeface="Cambria"/>
                <a:sym typeface="Cambria"/>
              </a:rPr>
              <a:t>Caso fortuito ou força maior, quando o evento é externo à atividade: imprevisível e inevitável.</a:t>
            </a:r>
            <a:endParaRPr lang="pt-BR" sz="18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>
                <a:latin typeface="Cambria"/>
                <a:ea typeface="Cambria"/>
                <a:cs typeface="Cambria"/>
                <a:sym typeface="Cambria"/>
              </a:rPr>
              <a:t>Culpa exclusiva da vítima, quando o dano decorre só da conduta do particular, como no chamado “surfe ferroviário”.</a:t>
            </a:r>
            <a:endParaRPr lang="pt-BR" sz="18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>
                <a:latin typeface="Cambria"/>
                <a:ea typeface="Cambria"/>
                <a:cs typeface="Cambria"/>
                <a:sym typeface="Cambria"/>
              </a:rPr>
              <a:t>Fato exclusivo de terceiro, como atos de multidões que o Estado não poderia evitar.</a:t>
            </a:r>
            <a:endParaRPr lang="pt-BR" sz="1800"/>
          </a:p>
        </p:txBody>
      </p:sp>
      <p:sp>
        <p:nvSpPr>
          <p:cNvPr id="197" name="Google Shape;197;p4"/>
          <p:cNvSpPr txBox="1"/>
          <p:nvPr>
            <p:ph idx="2" type="body"/>
          </p:nvPr>
        </p:nvSpPr>
        <p:spPr>
          <a:xfrm>
            <a:off x="6502400" y="1545975"/>
            <a:ext cx="5725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200" b="1">
                <a:latin typeface="Cambria"/>
                <a:ea typeface="Cambria"/>
                <a:cs typeface="Cambria"/>
                <a:sym typeface="Cambria"/>
              </a:rPr>
              <a:t>Atenuante (reduz, não afasta)</a:t>
            </a:r>
            <a:endParaRPr lang="pt-BR" sz="22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>
                <a:latin typeface="Cambria"/>
                <a:ea typeface="Cambria"/>
                <a:cs typeface="Cambria"/>
                <a:sym typeface="Cambria"/>
              </a:rPr>
              <a:t>Culpa concorrente: particular e Estado contribuem para o dano, e a indenização é reduzida proporcionalmente.</a:t>
            </a:r>
            <a:endParaRPr lang="pt-BR" sz="18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>
                <a:latin typeface="Cambria"/>
                <a:ea typeface="Cambria"/>
                <a:cs typeface="Cambria"/>
                <a:sym typeface="Cambria"/>
              </a:rPr>
              <a:t>O fortuito interno, ligado aos riscos da própria atividade, não exclui a responsabilidade. Só o fortuito externo serve como excludente.</a:t>
            </a:r>
            <a:endParaRPr lang="pt-BR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3200" b="1">
                <a:latin typeface="Cambria"/>
                <a:ea typeface="Cambria"/>
                <a:cs typeface="Cambria"/>
                <a:sym typeface="Cambria"/>
              </a:rPr>
              <a:t>Aplicação Operacional</a:t>
            </a:r>
            <a:endParaRPr lang="pt-BR" sz="3200"/>
          </a:p>
        </p:txBody>
      </p:sp>
      <p:sp>
        <p:nvSpPr>
          <p:cNvPr id="203" name="Google Shape;203;p22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200" b="1">
                <a:latin typeface="Cambria"/>
                <a:ea typeface="Cambria"/>
                <a:cs typeface="Cambria"/>
                <a:sym typeface="Cambria"/>
              </a:rPr>
              <a:t>Três situações mostram a responsabilidade objetiva funcionando na prática.</a:t>
            </a:r>
            <a:endParaRPr lang="pt-BR" sz="22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Um policial em perseguição lícita bate em um carro estacionado corretamente. O Estado indeniza o proprietário, mesmo sem erro do policial.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Um detento é morto por outro dentro do presídio. O Estado responde objetivamente, porque tinha o dever de garantir a integridade física do custodiado.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Um ônibus de uma concessionária atropela um ciclista na rua. A empresa responde objetivamente perante o ciclista, mesmo que ele não seja usuário do transporte.</a:t>
            </a:r>
            <a:endParaRPr lang="pt-BR" sz="2000"/>
          </a:p>
        </p:txBody>
      </p:sp>
      <p:grpSp>
        <p:nvGrpSpPr>
          <p:cNvPr id="204" name="Google Shape;204;p22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205" name="Google Shape;205;p22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206" name="Google Shape;206;p22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07" name="Google Shape;207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" name="Google Shape;208;p22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09" name="Google Shape;209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3200" b="1">
                <a:latin typeface="Cambria"/>
                <a:ea typeface="Cambria"/>
                <a:cs typeface="Cambria"/>
                <a:sym typeface="Cambria"/>
              </a:rPr>
              <a:t>O Que Diz a Jurisprudência (STF/STJ)</a:t>
            </a:r>
            <a:endParaRPr lang="pt-BR" sz="3200"/>
          </a:p>
        </p:txBody>
      </p:sp>
      <p:sp>
        <p:nvSpPr>
          <p:cNvPr id="215" name="Google Shape;215;p23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200" b="1">
                <a:latin typeface="Cambria"/>
                <a:ea typeface="Cambria"/>
                <a:cs typeface="Cambria"/>
                <a:sym typeface="Cambria"/>
              </a:rPr>
              <a:t>Três ideias, recorrentes nos julgados do STF e do STJ, resumem como os tribunais aplicam esses conceitos.</a:t>
            </a:r>
            <a:endParaRPr lang="pt-BR" sz="22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A oficialidade da conduta determina a responsabilidade: não importa se o agente estava fardado ou em horário de serviço, mas se ele se valeu da condição de servidor para agir.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O Estado responde pelos danos de seus agentes pela culpa </a:t>
            </a:r>
            <a:r>
              <a:rPr lang="pt-BR" sz="2000" b="1">
                <a:latin typeface="Cambria"/>
                <a:ea typeface="Cambria"/>
                <a:cs typeface="Cambria"/>
                <a:sym typeface="Cambria"/>
              </a:rPr>
              <a:t>in eligendo</a:t>
            </a: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 e </a:t>
            </a:r>
            <a:r>
              <a:rPr lang="pt-BR" sz="2000" b="1">
                <a:latin typeface="Cambria"/>
                <a:ea typeface="Cambria"/>
                <a:cs typeface="Cambria"/>
                <a:sym typeface="Cambria"/>
              </a:rPr>
              <a:t>in vigilando</a:t>
            </a: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: o dever de escolhê-los e vigiá-los bem.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Pela Teoria da Dupla Garantia, a vítima processa o Estado diretamente. Se houver dolo ou culpa do agente, o Estado pode mover ação de regresso contra ele depois.</a:t>
            </a:r>
            <a:endParaRPr lang="pt-BR" sz="2000"/>
          </a:p>
        </p:txBody>
      </p:sp>
      <p:grpSp>
        <p:nvGrpSpPr>
          <p:cNvPr id="216" name="Google Shape;216;p23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217" name="Google Shape;217;p23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218" name="Google Shape;218;p23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19" name="Google Shape;219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0" name="Google Shape;220;p23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21" name="Google Shape;221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3200" b="1">
                <a:latin typeface="Cambria"/>
                <a:ea typeface="Cambria"/>
                <a:cs typeface="Cambria"/>
                <a:sym typeface="Cambria"/>
              </a:rPr>
              <a:t>Síntese</a:t>
            </a:r>
            <a:endParaRPr lang="pt-BR" sz="3200"/>
          </a:p>
        </p:txBody>
      </p:sp>
      <p:sp>
        <p:nvSpPr>
          <p:cNvPr id="227" name="Google Shape;227;p24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200" b="1">
                <a:latin typeface="Cambria"/>
                <a:ea typeface="Cambria"/>
                <a:cs typeface="Cambria"/>
                <a:sym typeface="Cambria"/>
              </a:rPr>
              <a:t>O que fica sobre responsabilidade objetiva do Estado:</a:t>
            </a:r>
            <a:endParaRPr lang="pt-BR" sz="22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O Brasil adota a responsabilidade objetiva do Estado, na modalidade de risco administrativo, com base no art. 37, §6º da Constituição Federal.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Provar a conduta do agente, o dano e o nexo causal basta para configurar o dever de indenizar, sem que seja preciso demonstrar culpa de ninguém.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O caso fortuito externo, a culpa exclusiva da vítima e o fato exclusivo de terceiro rompem o nexo causal e afastam essa responsabilidade.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A ação corre contra o Estado, nunca diretamente contra o agente. A cobrança pessoal só aparece depois, na ação de regresso, e exige prova de dolo ou culpa.</a:t>
            </a:r>
            <a:endParaRPr lang="pt-BR" sz="20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>
                <a:latin typeface="Cambria"/>
                <a:ea typeface="Cambria"/>
                <a:cs typeface="Cambria"/>
                <a:sym typeface="Cambria"/>
              </a:rPr>
              <a:t>Fora do horário de serviço, o que decide se o Estado responde é a oficialidade da conduta do agente, não a farda ou o relógio.</a:t>
            </a:r>
            <a:endParaRPr lang="pt-BR" sz="2000"/>
          </a:p>
        </p:txBody>
      </p:sp>
      <p:grpSp>
        <p:nvGrpSpPr>
          <p:cNvPr id="228" name="Google Shape;228;p24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229" name="Google Shape;229;p24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230" name="Google Shape;230;p24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31" name="Google Shape;231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2" name="Google Shape;232;p24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33" name="Google Shape;23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25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239" name="Google Shape;239;p25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240" name="Google Shape;240;p25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41" name="Google Shape;241;p2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2" name="Google Shape;242;p25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43" name="Google Shape;243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" name="Google Shape;244;p25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3200" b="1">
                <a:latin typeface="Cambria"/>
                <a:ea typeface="Cambria"/>
                <a:cs typeface="Cambria"/>
                <a:sym typeface="Cambria"/>
              </a:rPr>
              <a:t>Dois Casos em Operações de Resgate</a:t>
            </a:r>
            <a:endParaRPr lang="pt-BR" sz="3200"/>
          </a:p>
        </p:txBody>
      </p:sp>
      <p:sp>
        <p:nvSpPr>
          <p:cNvPr id="245" name="Google Shape;245;p25"/>
          <p:cNvSpPr txBox="1"/>
          <p:nvPr>
            <p:ph idx="1" type="body"/>
          </p:nvPr>
        </p:nvSpPr>
        <p:spPr>
          <a:xfrm>
            <a:off x="548640" y="1545975"/>
            <a:ext cx="5725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800" i="1">
                <a:latin typeface="Cambria"/>
                <a:ea typeface="Cambria"/>
                <a:cs typeface="Cambria"/>
                <a:sym typeface="Cambria"/>
              </a:rPr>
              <a:t>Estes dois casos de resgate mostram o nexo causal funcionando em direções opostas.</a:t>
            </a:r>
            <a:endParaRPr lang="pt-BR" sz="1800"/>
          </a:p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200" b="1">
                <a:latin typeface="Cambria"/>
                <a:ea typeface="Cambria"/>
                <a:cs typeface="Cambria"/>
                <a:sym typeface="Cambria"/>
              </a:rPr>
              <a:t>Responsabilidade por agente de fato</a:t>
            </a:r>
            <a:endParaRPr lang="pt-BR" sz="22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>
                <a:latin typeface="Cambria"/>
                <a:ea typeface="Cambria"/>
                <a:cs typeface="Cambria"/>
                <a:sym typeface="Cambria"/>
              </a:rPr>
              <a:t>Em grandes catástrofes, o Estado pode permitir que particulares auxiliem o Corpo de Bombeiros no socorro às vítimas.</a:t>
            </a:r>
            <a:endParaRPr lang="pt-BR" sz="18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>
                <a:latin typeface="Cambria"/>
                <a:ea typeface="Cambria"/>
                <a:cs typeface="Cambria"/>
                <a:sym typeface="Cambria"/>
              </a:rPr>
              <a:t>Se esse particular, atuando com permissão da administração, causar um dano durante o apoio ao resgate, o Estado pode responder objetivamente.</a:t>
            </a:r>
            <a:endParaRPr lang="pt-BR" sz="18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>
                <a:latin typeface="Cambria"/>
                <a:ea typeface="Cambria"/>
                <a:cs typeface="Cambria"/>
                <a:sym typeface="Cambria"/>
              </a:rPr>
              <a:t>A responsabilidade alcança quem o Poder Público autoriza a agir em seu nome numa emergência, mesmo sem vínculo funcional regular.</a:t>
            </a:r>
            <a:endParaRPr lang="pt-BR" sz="1800"/>
          </a:p>
        </p:txBody>
      </p:sp>
      <p:sp>
        <p:nvSpPr>
          <p:cNvPr id="246" name="Google Shape;246;p25"/>
          <p:cNvSpPr txBox="1"/>
          <p:nvPr>
            <p:ph idx="2" type="body"/>
          </p:nvPr>
        </p:nvSpPr>
        <p:spPr>
          <a:xfrm>
            <a:off x="6502400" y="1545975"/>
            <a:ext cx="5725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200" b="1">
                <a:latin typeface="Cambria"/>
                <a:ea typeface="Cambria"/>
                <a:cs typeface="Cambria"/>
                <a:sym typeface="Cambria"/>
              </a:rPr>
              <a:t>Rompimento do nexo causal</a:t>
            </a:r>
            <a:endParaRPr lang="pt-BR" sz="22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>
                <a:latin typeface="Cambria"/>
                <a:ea typeface="Cambria"/>
                <a:cs typeface="Cambria"/>
                <a:sym typeface="Cambria"/>
              </a:rPr>
              <a:t>Durante o socorro a um acidente de trânsito, a maca quebra e a vítima cai no solo, vindo a falecer depois.</a:t>
            </a:r>
            <a:endParaRPr lang="pt-BR" sz="18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>
                <a:latin typeface="Cambria"/>
                <a:ea typeface="Cambria"/>
                <a:cs typeface="Cambria"/>
                <a:sym typeface="Cambria"/>
              </a:rPr>
              <a:t>Se a perícia comprovar que a morte foi causada só pela pancada do acidente original, e não pela queda da maca, o Estado não responde pelo óbito.</a:t>
            </a:r>
            <a:endParaRPr lang="pt-BR" sz="18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>
                <a:latin typeface="Cambria"/>
                <a:ea typeface="Cambria"/>
                <a:cs typeface="Cambria"/>
                <a:sym typeface="Cambria"/>
              </a:rPr>
              <a:t>Houve falha na conduta estatal, mas o nexo entre essa falha e a morte foi rompido pela causa anterior.</a:t>
            </a:r>
            <a:endParaRPr lang="pt-BR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26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252" name="Google Shape;252;p26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253" name="Google Shape;253;p26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54" name="Google Shape;254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5" name="Google Shape;255;p26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56" name="Google Shape;256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p26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3200" b="1">
                <a:latin typeface="Cambria"/>
                <a:ea typeface="Cambria"/>
                <a:cs typeface="Cambria"/>
                <a:sym typeface="Cambria"/>
              </a:rPr>
              <a:t>E Se o Bombeiro Estiver de Folga?</a:t>
            </a:r>
            <a:endParaRPr lang="pt-BR" sz="3200"/>
          </a:p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548640" y="1545975"/>
            <a:ext cx="5725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800" i="1">
                <a:latin typeface="Cambria"/>
                <a:ea typeface="Cambria"/>
                <a:cs typeface="Cambria"/>
                <a:sym typeface="Cambria"/>
              </a:rPr>
              <a:t>Um bombeiro fora de serviço causa um dano. O Estado responde por ele?</a:t>
            </a:r>
            <a:endParaRPr lang="pt-BR" sz="1800"/>
          </a:p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200" b="1">
                <a:latin typeface="Cambria"/>
                <a:ea typeface="Cambria"/>
                <a:cs typeface="Cambria"/>
                <a:sym typeface="Cambria"/>
              </a:rPr>
              <a:t>O Estado responde</a:t>
            </a:r>
            <a:endParaRPr lang="pt-BR" sz="22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>
                <a:latin typeface="Cambria"/>
                <a:ea typeface="Cambria"/>
                <a:cs typeface="Cambria"/>
                <a:sym typeface="Cambria"/>
              </a:rPr>
              <a:t>Quando o bombeiro de folga intervém numa ocorrência, como um incêndio ou salvamento, valendo-se da condição de militar ou de técnicas da corporação.</a:t>
            </a:r>
            <a:endParaRPr lang="pt-BR" sz="18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>
                <a:latin typeface="Cambria"/>
                <a:ea typeface="Cambria"/>
                <a:cs typeface="Cambria"/>
                <a:sym typeface="Cambria"/>
              </a:rPr>
              <a:t>O critério que conta é a oficialidade da conduta: o bombeiro agiu no interesse público, na condição de agente estatal, mesmo fora do horário de escala.</a:t>
            </a:r>
            <a:endParaRPr lang="pt-BR" sz="1800"/>
          </a:p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6502400" y="1545975"/>
            <a:ext cx="5725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2200" b="1">
                <a:latin typeface="Cambria"/>
                <a:ea typeface="Cambria"/>
                <a:cs typeface="Cambria"/>
                <a:sym typeface="Cambria"/>
              </a:rPr>
              <a:t>O Estado não responde</a:t>
            </a:r>
            <a:endParaRPr lang="pt-BR" sz="22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>
                <a:latin typeface="Cambria"/>
                <a:ea typeface="Cambria"/>
                <a:cs typeface="Cambria"/>
                <a:sym typeface="Cambria"/>
              </a:rPr>
              <a:t>Quando o dano decorre de interesse puramente privado, sem relação com a função pública.</a:t>
            </a:r>
            <a:endParaRPr lang="pt-BR" sz="1800"/>
          </a:p>
          <a:p>
            <a:pPr indent="-228600" marL="228600" lvl="0" rtl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800">
                <a:latin typeface="Cambria"/>
                <a:ea typeface="Cambria"/>
                <a:cs typeface="Cambria"/>
                <a:sym typeface="Cambria"/>
              </a:rPr>
              <a:t>Um bombeiro de folga que se envolve numa briga de trânsito por motivo pessoal age como qualquer cidadão, e o Estado não responde pelo dano que ele causar.</a:t>
            </a:r>
            <a:endParaRPr lang="pt-BR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5"/>
          <p:cNvPicPr preferRelativeResize="0"/>
          <p:nvPr/>
        </p:nvPicPr>
        <p:blipFill rotWithShape="1">
          <a:blip r:embed="rId3">
            <a:alphaModFix amt="20000"/>
          </a:blip>
          <a:srcRect b="6921" l="0" r="0" t="0"/>
          <a:stretch/>
        </p:blipFill>
        <p:spPr>
          <a:xfrm>
            <a:off x="2375026" y="18651"/>
            <a:ext cx="8254745" cy="7274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"/>
          <p:cNvSpPr txBox="1"/>
          <p:nvPr/>
        </p:nvSpPr>
        <p:spPr>
          <a:xfrm>
            <a:off x="2463800" y="2326271"/>
            <a:ext cx="1371600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21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"/>
          <p:cNvSpPr txBox="1"/>
          <p:nvPr/>
        </p:nvSpPr>
        <p:spPr>
          <a:xfrm>
            <a:off x="9398000" y="5118736"/>
            <a:ext cx="1371600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21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"/>
          <p:cNvSpPr txBox="1"/>
          <p:nvPr/>
        </p:nvSpPr>
        <p:spPr>
          <a:xfrm>
            <a:off x="2375027" y="3165777"/>
            <a:ext cx="8254745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ACADEMIA BOMBEIRO MILITAR</a:t>
            </a:r>
            <a:endParaRPr b="1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Aqui se aprende a comandar heróis!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Jamile Oliveira</dc:creator>
</cp:coreProperties>
</file>