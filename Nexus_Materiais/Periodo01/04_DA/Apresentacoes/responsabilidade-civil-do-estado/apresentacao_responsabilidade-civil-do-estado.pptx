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7315200" cx="13004800"/>
  <p:notesSz cx="6858000" cy="9144000"/>
  <p:embeddedFontLst>
    <p:embeddedFont>
      <p:font typeface="Oswa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FKzEg9xcm3d/VgVO0Bo7rMHpc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swald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" name="Google Shape;28;p9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963084" y="2906714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609601" y="1435100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7285039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697039" y="-812800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653854" y="6029103"/>
            <a:ext cx="1697093" cy="128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3854" y="2197702"/>
            <a:ext cx="1697093" cy="128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0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25600" y="2560692"/>
            <a:ext cx="97536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Responsabilidade Civil do Estado</a:t>
            </a:r>
            <a:endParaRPr b="1" i="0" sz="5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238990" y="5041979"/>
            <a:ext cx="852682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Direito Administrativo I: Equipe 03 (Responsabilidade Administrativa)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2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TCEL QOBM Xavier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238990" y="6308245"/>
            <a:ext cx="8526820" cy="479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1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Junho de 2026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293939" y="-98446"/>
            <a:ext cx="12416922" cy="3254805"/>
            <a:chOff x="0" y="-47625"/>
            <a:chExt cx="2901555" cy="860425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2901555" cy="488448"/>
            </a:xfrm>
            <a:custGeom>
              <a:rect b="b" l="l" r="r" t="t"/>
              <a:pathLst>
                <a:path extrusionOk="0" h="488448" w="2901555">
                  <a:moveTo>
                    <a:pt x="35576" y="0"/>
                  </a:moveTo>
                  <a:lnTo>
                    <a:pt x="2865979" y="0"/>
                  </a:lnTo>
                  <a:cubicBezTo>
                    <a:pt x="2875414" y="0"/>
                    <a:pt x="2884463" y="3748"/>
                    <a:pt x="2891135" y="10420"/>
                  </a:cubicBezTo>
                  <a:cubicBezTo>
                    <a:pt x="2897806" y="17092"/>
                    <a:pt x="2901555" y="26141"/>
                    <a:pt x="2901555" y="35576"/>
                  </a:cubicBezTo>
                  <a:lnTo>
                    <a:pt x="2901555" y="452872"/>
                  </a:lnTo>
                  <a:cubicBezTo>
                    <a:pt x="2901555" y="462307"/>
                    <a:pt x="2897806" y="471356"/>
                    <a:pt x="2891135" y="478028"/>
                  </a:cubicBezTo>
                  <a:cubicBezTo>
                    <a:pt x="2884463" y="484700"/>
                    <a:pt x="2875414" y="488448"/>
                    <a:pt x="2865979" y="488448"/>
                  </a:cubicBezTo>
                  <a:lnTo>
                    <a:pt x="35576" y="488448"/>
                  </a:lnTo>
                  <a:cubicBezTo>
                    <a:pt x="15928" y="488448"/>
                    <a:pt x="0" y="472520"/>
                    <a:pt x="0" y="452872"/>
                  </a:cubicBezTo>
                  <a:lnTo>
                    <a:pt x="0" y="35576"/>
                  </a:lnTo>
                  <a:cubicBezTo>
                    <a:pt x="0" y="26141"/>
                    <a:pt x="3748" y="17092"/>
                    <a:pt x="10420" y="10420"/>
                  </a:cubicBezTo>
                  <a:cubicBezTo>
                    <a:pt x="17092" y="3748"/>
                    <a:pt x="26141" y="0"/>
                    <a:pt x="3557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1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1728506" y="121636"/>
            <a:ext cx="9620196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CORPO DE BOMBEIROS MILITAR DO PARÁ E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COORDENADORIA ESTADUAL DE PROTEÇÃO E DEFESA CIVIL</a:t>
            </a:r>
            <a:endParaRPr b="1" i="0" sz="2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DEPARTAMENTO-GERAL DE CULTURA, EDUCAÇÃO E PESQUISA</a:t>
            </a:r>
            <a:endParaRPr b="1" i="0" sz="2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ACADEMIA DE BOMBEIRO MILITAR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905" y="324013"/>
            <a:ext cx="2218615" cy="1123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1896" y="330450"/>
            <a:ext cx="1010842" cy="130592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61804" y="4225820"/>
            <a:ext cx="97536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Curso de Formação de Oficiais BM 2026 – Turma 16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3245869" cy="7315200"/>
          </a:xfrm>
          <a:prstGeom prst="rect">
            <a:avLst/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0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3759201" y="1194385"/>
            <a:ext cx="8045289" cy="1527511"/>
            <a:chOff x="2795" y="0"/>
            <a:chExt cx="10727053" cy="2036682"/>
          </a:xfrm>
        </p:grpSpPr>
        <p:grpSp>
          <p:nvGrpSpPr>
            <p:cNvPr id="106" name="Google Shape;106;p2"/>
            <p:cNvGrpSpPr/>
            <p:nvPr/>
          </p:nvGrpSpPr>
          <p:grpSpPr>
            <a:xfrm>
              <a:off x="2795" y="0"/>
              <a:ext cx="1247660" cy="1253252"/>
              <a:chOff x="1813" y="0"/>
              <a:chExt cx="809173" cy="812800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690918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108" name="Google Shape;108;p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pic>
          <p:nvPicPr>
            <p:cNvPr id="109" name="Google Shape;10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5862" y="259766"/>
              <a:ext cx="541528" cy="7211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2"/>
            <p:cNvSpPr txBox="1"/>
            <p:nvPr/>
          </p:nvSpPr>
          <p:spPr>
            <a:xfrm>
              <a:off x="1669371" y="1117455"/>
              <a:ext cx="9039838" cy="91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2900" lvl="0" marL="34290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Apresentar o regime de responsabilidade civil do Estado adotado no Brasil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just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Relacionar requisitos, limites e hipóteses de responsabilidade à rotina do Oficial BM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1669371" y="328811"/>
              <a:ext cx="9060477" cy="648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C00000"/>
                  </a:solidFill>
                  <a:latin typeface="Cambria"/>
                  <a:ea typeface="Cambria"/>
                  <a:cs typeface="Cambria"/>
                  <a:sym typeface="Cambria"/>
                </a:rPr>
                <a:t>Objetivos</a:t>
              </a:r>
              <a:endParaRPr b="1" i="0" sz="2799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3759201" y="3491633"/>
            <a:ext cx="8045335" cy="2080570"/>
            <a:chOff x="2795" y="-244268"/>
            <a:chExt cx="10727115" cy="2774093"/>
          </a:xfrm>
        </p:grpSpPr>
        <p:grpSp>
          <p:nvGrpSpPr>
            <p:cNvPr id="113" name="Google Shape;113;p2"/>
            <p:cNvGrpSpPr/>
            <p:nvPr/>
          </p:nvGrpSpPr>
          <p:grpSpPr>
            <a:xfrm>
              <a:off x="2795" y="-244268"/>
              <a:ext cx="1247660" cy="1497520"/>
              <a:chOff x="1813" y="-158421"/>
              <a:chExt cx="809173" cy="971221"/>
            </a:xfrm>
          </p:grpSpPr>
          <p:sp>
            <p:nvSpPr>
              <p:cNvPr id="114" name="Google Shape;114;p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115" name="Google Shape;115;p2"/>
              <p:cNvSpPr txBox="1"/>
              <p:nvPr/>
            </p:nvSpPr>
            <p:spPr>
              <a:xfrm>
                <a:off x="74386" y="-158421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sp>
          <p:nvSpPr>
            <p:cNvPr id="116" name="Google Shape;116;p2"/>
            <p:cNvSpPr txBox="1"/>
            <p:nvPr/>
          </p:nvSpPr>
          <p:spPr>
            <a:xfrm>
              <a:off x="1690010" y="1151025"/>
              <a:ext cx="9039900" cy="137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92100" lvl="0" marL="34290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Fundamentos e evolução histórica da responsabilidade do Estad</a:t>
              </a:r>
              <a:r>
                <a:rPr lang="en-US" sz="2000">
                  <a:latin typeface="Cambria"/>
                  <a:ea typeface="Cambria"/>
                  <a:cs typeface="Cambria"/>
                  <a:sym typeface="Cambria"/>
                </a:rPr>
                <a:t>o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342900" marR="0" rtl="0" algn="just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Teorias da culpa administrativa e do risco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342900" marR="0" rtl="0" algn="just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Base constitucional, requisitos e dano indenizável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342900" marR="0" rtl="0" algn="just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Limites da responsabilidade do Estado: excludentes, atenuantes e omissão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690011" y="362381"/>
              <a:ext cx="9039837" cy="648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C00000"/>
                  </a:solidFill>
                  <a:latin typeface="Cambria"/>
                  <a:ea typeface="Cambria"/>
                  <a:cs typeface="Cambria"/>
                  <a:sym typeface="Cambria"/>
                </a:rPr>
                <a:t>Conteúdo a ser abordado</a:t>
              </a:r>
              <a:endParaRPr b="1" i="0" sz="2799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pic>
        <p:nvPicPr>
          <p:cNvPr id="118" name="Google Shape;118;p2"/>
          <p:cNvPicPr preferRelativeResize="0"/>
          <p:nvPr/>
        </p:nvPicPr>
        <p:blipFill rotWithShape="1">
          <a:blip r:embed="rId4">
            <a:alphaModFix/>
          </a:blip>
          <a:srcRect b="21467" l="2817" r="50313" t="22234"/>
          <a:stretch/>
        </p:blipFill>
        <p:spPr>
          <a:xfrm>
            <a:off x="3939702" y="3840480"/>
            <a:ext cx="581499" cy="5238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2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20" name="Google Shape;120;p2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21" name="Google Shape;121;p2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2" name="Google Shape;122;p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" name="Google Shape;123;p2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24" name="Google Shape;124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Conceito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p3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Responsabilidade civil é a obrigação de reparar, com o próprio patrimônio, os danos causados a terceiros.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Essa responsabilidade corre em paralelo à penal e à administrativa, e nada impede que o mesmo fato gere as três ao mesmo tempo, cada uma seguindo seu próprio rito.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 doutrina também chama esse regime de responsabilidade extracontratual, ou </a:t>
            </a: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aquiliana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o dever de indenizar nasce de um ato ou de uma omissão, não de um contrato entre as partes.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Alcança tanto o prejuízo patrimonial quanto o dano moral, sempre que um direito do particular for atingido.</a:t>
            </a:r>
            <a:endParaRPr/>
          </a:p>
        </p:txBody>
      </p:sp>
      <p:grpSp>
        <p:nvGrpSpPr>
          <p:cNvPr id="131" name="Google Shape;131;p3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32" name="Google Shape;132;p3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4" name="Google Shape;134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" name="Google Shape;135;p3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6" name="Google Shape;13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Evolução histórica da responsabilidade estatal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A responsabilidade do Estado passou por cinco fases, da irresponsabilidade total até a obrigação objetiva de indenizar.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1. Reconhecer a irresponsabilidade do monarca nos regimes absolutistas, segundo a fórmula “the king can do no wrong”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2. Equiparar o Estado ao particular, distinguindo atos de império e atos de gestão, na fase das teorias civilistas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3. Exigir prova de dolo ou culpa do agente, na teoria da culpa civil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4. Atribuir a falha ao serviço, e não ao agente, na teoria da culpa administrativa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5. Dispensar a prova de culpa, nas teorias do risco que fundamentam a responsabilidade objetiva atual</a:t>
            </a:r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44" name="Google Shape;144;p18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45" name="Google Shape;145;p18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46" name="Google Shape;146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" name="Google Shape;147;p18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48" name="Google Shape;148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Teorias da responsabilidade estatal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Três teorias tentaram resolver a mesma pergunta: quando o Estado deveria responder pelos danos que causava?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 teoria da irresponsabilidade negava qualquer dever de indenizar, pois, para ela, o Estado, personificado no rei, simplesmente não errava.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 teoria dos atos de império e atos de gestão só abria espaço para indenização nos atos de gestão, quando o Estado agia em pé de igualdade com o particular.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 teoria da culpa civil equiparou o Estado ao particular comum, exigindo prova de dolo ou culpa do agente, regime que ainda vigora em países de common law.</a:t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56" name="Google Shape;156;p19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57" name="Google Shape;157;p19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8" name="Google Shape;158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" name="Google Shape;159;p19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60" name="Google Shape;16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Culpa administrativa (faute du service)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Na culpa administrativa, a falha é atribuída ao serviço, sem necessidade de identificar o agente responsável.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 culpa deixa de ser do funcionário e passa a ser anônima, atribuída ao funcionamento do serviço público em si.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Aparece em três situações: o serviço não existiu quando deveria existir, funcionou mal, ou demorou além do razoável.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Provar essa falha continua sendo encargo do particular prejudicado, e é nesse ponto que a teoria ainda se distancia do modelo objetivo.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Funciona como ponte entre a doutrina subjetiva, baseada em culpa, e o regime objetivo que o Brasil adota hoje.</a:t>
            </a:r>
            <a:endParaRPr/>
          </a:p>
        </p:txBody>
      </p:sp>
      <p:grpSp>
        <p:nvGrpSpPr>
          <p:cNvPr id="167" name="Google Shape;167;p20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68" name="Google Shape;168;p20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69" name="Google Shape;169;p20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70" name="Google Shape;170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20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72" name="Google Shape;17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Teoria do risco administrativo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US" sz="2400">
                <a:latin typeface="Cambria"/>
                <a:ea typeface="Cambria"/>
                <a:cs typeface="Cambria"/>
                <a:sym typeface="Cambria"/>
              </a:rPr>
              <a:t>“O fundamento da responsabilidade estatal é garantir uma equânime repartição dos ônus provenientes de atos ou efeitos lesivos [...] seu fundamento é o princípio da igualdade.”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— Celso Antônio Bandeira de Mello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Basta existir uma relação entre o comportamento do Estado e o dano sofrido pelo administrado, sem necessidade de perguntar se houve culpa.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Apoia-se em dois fundamentos: a atividade estatal gera risco a quem está ao seu redor, e os custos desse risco devem ser repartidos por toda a sociedade, em vez de recair só sobre quem foi atingido.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Mesmo objetiva, essa teoria ainda admite causas que rompem o dever de indenizar, conhecidas como excludentes e atenuantes de responsabilidade.</a:t>
            </a:r>
            <a:endParaRPr/>
          </a:p>
        </p:txBody>
      </p:sp>
      <p:grpSp>
        <p:nvGrpSpPr>
          <p:cNvPr id="179" name="Google Shape;179;p21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80" name="Google Shape;180;p21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81" name="Google Shape;181;p21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82" name="Google Shape;182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p21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84" name="Google Shape;18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4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90" name="Google Shape;190;p4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91" name="Google Shape;191;p4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92" name="Google Shape;192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" name="Google Shape;193;p4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94" name="Google Shape;19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4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Risco administrativo x risco integral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i="1" lang="en-US" sz="1800">
                <a:latin typeface="Cambria"/>
                <a:ea typeface="Cambria"/>
                <a:cs typeface="Cambria"/>
                <a:sym typeface="Cambria"/>
              </a:rPr>
              <a:t>As duas teorias do risco se diferenciam pela admissão ou não de excludentes de responsabilidade.</a:t>
            </a:r>
            <a:endParaRPr i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6" name="Google Shape;196;p4"/>
          <p:cNvSpPr txBox="1"/>
          <p:nvPr>
            <p:ph idx="1" type="body"/>
          </p:nvPr>
        </p:nvSpPr>
        <p:spPr>
          <a:xfrm>
            <a:off x="54864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Risco administrativo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Admite excludentes: culpa exclusiva da vítima, força maior, fato de terceiro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O ônus da prova é do Estado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É a regra adotada no Brasil</a:t>
            </a:r>
            <a:endParaRPr/>
          </a:p>
        </p:txBody>
      </p:sp>
      <p:sp>
        <p:nvSpPr>
          <p:cNvPr id="197" name="Google Shape;197;p4"/>
          <p:cNvSpPr txBox="1"/>
          <p:nvPr>
            <p:ph idx="2" type="body"/>
          </p:nvPr>
        </p:nvSpPr>
        <p:spPr>
          <a:xfrm>
            <a:off x="650240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Risco integral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Não admite excludentes: o Estado responde mesmo provando que não teve culpa nem chance de evitar o dano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Funciona como uma espécie de “segurador universal”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Aplicação excepcional: acidentes nucleares (CF, art. 21, XXIII, “d”), danos ambientais, atos terroristas e de guerra contra aeronaves brasileiras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Fundamento constitucional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22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Art. 37, §6º, CF/88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Pessoas jurídicas de direito público e de direito privado prestadoras de serviço público respondem pelos danos que seus agentes, nessa qualidade, causarem a terceiros.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Alcança a administração direta, autarquias, fundações públicas, e também empresas públicas, sociedades de economia mista e delegatárias (por concessão, permissão ou autorização) que prestam serviço público.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Fica fora dessa regra a estatal exploradora de atividade econômica: ela responde como qualquer empresa privada, pelas regras do Direito Civil e Comercial.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O mesmo dispositivo assegura à Administração o direito de regresso contra o agente, quando comprovados dolo ou culpa.</a:t>
            </a:r>
            <a:endParaRPr/>
          </a:p>
        </p:txBody>
      </p:sp>
      <p:grpSp>
        <p:nvGrpSpPr>
          <p:cNvPr id="204" name="Google Shape;204;p22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05" name="Google Shape;205;p22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06" name="Google Shape;206;p22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07" name="Google Shape;207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" name="Google Shape;208;p22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09" name="Google Shape;209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Requisitos da responsabilidade objetiva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Configurar o dever de indenizar do Estado exige provar três elementos: conduta, dano e nexo de causalidade.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1. Comprovar a conduta de um agente público atuando nessa qualidade, no exercício da função ou se valendo dela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2. Comprovar o dano sofrido, desde que atinja um direito juridicamente tutelado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3. Comprovar o nexo de causalidade entre a conduta estatal e o dano</a:t>
            </a:r>
            <a:endParaRPr/>
          </a:p>
        </p:txBody>
      </p:sp>
      <p:grpSp>
        <p:nvGrpSpPr>
          <p:cNvPr id="216" name="Google Shape;216;p23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17" name="Google Shape;217;p23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18" name="Google Shape;218;p23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19" name="Google Shape;219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" name="Google Shape;220;p23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1" name="Google Shape;22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Dano indenizável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Só gera indenização o dano que viola um direito juridicamente tutelado. O prejuízo econômico, isoladamente, não basta.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Quando uma escola ou repartição muda de endereço e o comércio do entorno esvazia, há prejuízo financeiro, mas nenhum direito foi violado, e por isso não cabe indenização.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Já a represa que inunda propriedades vizinhas nasce de um ato lícito do Estado, mas, ao atingir o direito de propriedade, gera o dever de indenizar mesmo sem ilicitude.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O dano pode ser patrimonial, atingindo o patrimônio do particular, ou moral, atingindo sua honra, imagem ou integridade psíquica.</a:t>
            </a:r>
            <a:endParaRPr/>
          </a:p>
        </p:txBody>
      </p:sp>
      <p:grpSp>
        <p:nvGrpSpPr>
          <p:cNvPr id="228" name="Google Shape;228;p24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29" name="Google Shape;229;p24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30" name="Google Shape;230;p24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31" name="Google Shape;231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" name="Google Shape;232;p24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33" name="Google Shape;23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5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39" name="Google Shape;239;p25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40" name="Google Shape;240;p25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41" name="Google Shape;241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25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43" name="Google Shape;243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25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Excludentes e atenuante da responsabilidade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i="1" lang="en-US" sz="1800">
                <a:latin typeface="Cambria"/>
                <a:ea typeface="Cambria"/>
                <a:cs typeface="Cambria"/>
                <a:sym typeface="Cambria"/>
              </a:rPr>
              <a:t>Excludentes rompem o nexo causal e afastam a responsabilidade; atenuantes apenas reduzem o dever de indenizar.</a:t>
            </a:r>
            <a:endParaRPr i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5" name="Google Shape;245;p25"/>
          <p:cNvSpPr txBox="1"/>
          <p:nvPr>
            <p:ph idx="1" type="body"/>
          </p:nvPr>
        </p:nvSpPr>
        <p:spPr>
          <a:xfrm>
            <a:off x="54864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Excludentes: afastam o dever de indenizar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Caso fortuito ou força maior, quando classificado como fortuito 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externo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, sem nenhuma relação com a atividade estatal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Culpa exclusiva da vítima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Fato exclusivo de terceiro, como em atos de multidão</a:t>
            </a:r>
            <a:endParaRPr/>
          </a:p>
        </p:txBody>
      </p:sp>
      <p:sp>
        <p:nvSpPr>
          <p:cNvPr id="246" name="Google Shape;246;p25"/>
          <p:cNvSpPr txBox="1"/>
          <p:nvPr>
            <p:ph idx="2" type="body"/>
          </p:nvPr>
        </p:nvSpPr>
        <p:spPr>
          <a:xfrm>
            <a:off x="650240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Atenuante: reduz, mas não afasta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Culpa concorrente da vítima: o Estado continua respondendo, só que de forma proporcionalmente reduzida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Em qualquer dessas hipóteses, o ônus de provar a excludente ou a atenuante é da Administração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6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52" name="Google Shape;252;p26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53" name="Google Shape;253;p26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54" name="Google Shape;254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5" name="Google Shape;255;p26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56" name="Google Shape;256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26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Responsabilidade por omissão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i="1" lang="en-US" sz="1800">
                <a:latin typeface="Cambria"/>
                <a:ea typeface="Cambria"/>
                <a:cs typeface="Cambria"/>
                <a:sym typeface="Cambria"/>
              </a:rPr>
              <a:t>Na responsabilidade por omissão, é a vítima quem precisa provar a falta do serviço.</a:t>
            </a:r>
            <a:endParaRPr i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54864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Omissão imprópria (genérica)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Responsabilidade subjetiva: cabe à vítima comprovar a culpa anônima do serviço, que não existiu, funcionou mal ou demorou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É o caso mais cobrado em prova: atos de multidão, fenômenos da natureza, fiscalização de trânsito</a:t>
            </a:r>
            <a:endParaRPr/>
          </a:p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650240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Omissão própria (específica)</a:t>
            </a:r>
            <a:endParaRPr b="1" sz="2200"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Quando a lei determina o dever de agir e o Estado se omite, o efeito equivale ao de um ato comissivo, e a responsabilidade volta a ser objetiva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Char char="•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Mesma lógica do Estado como “garante”: preso sob custódia, aluno em escola pública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Aplicação operacional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Os casos a seguir mostram como a responsabilidade civil do Estado aparece na rotina operacional da guarnição.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Viatura de resgate, em deslocamento emergencial, colide com veículo estacionado corretamente. Mesmo com o condutor agindo de forma lícita e diligente, é o risco administrativo que sustenta a indenização.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Vítima socorrida sofre agravamento por falha de procedimento durante o atendimento. A responsabilidade, nesse caso, depende do nexo entre a conduta do socorrista e o dano, não da boa intenção de quem socorreu.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Bairro alagado todos os anos por bueiros entupidos e falta de manutenção caracteriza omissão: a vítima precisa provar que a manutenção teria evitado o dano.</a:t>
            </a:r>
            <a:endParaRPr/>
          </a:p>
        </p:txBody>
      </p:sp>
      <p:grpSp>
        <p:nvGrpSpPr>
          <p:cNvPr id="266" name="Google Shape;266;p27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67" name="Google Shape;267;p27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68" name="Google Shape;268;p27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69" name="Google Shape;269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0" name="Google Shape;270;p27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71" name="Google Shape;27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Síntese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7" name="Google Shape;277;p28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Cambria"/>
                <a:ea typeface="Cambria"/>
                <a:cs typeface="Cambria"/>
                <a:sym typeface="Cambria"/>
              </a:rPr>
              <a:t>Cinco pontos resumem o que foi visto sobre a responsabilidade civil do Estado.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O Brasil adota a responsabilidade objetiva do Estado, na modalidade de risco administrativo, com base no art. 37, §6º da Constituição Federal.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Provar conduta, dano e nexo causal basta para condenar o Estado, já que a culpa do agente público é irrelevante.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 culpa exclusiva da vítima, o fortuito externo e o fato exclusivo de terceiro rompem o nexo causal e excluem a responsabilidade.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Na omissão, a lógica se inverte: o Estado só responde se ficar provada a falta do serviço.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 ação corre contra o Estado, nunca diretamente contra o agente. A responsabilidade pessoal do agente só aparece depois, na ação de regresso.</a:t>
            </a:r>
            <a:endParaRPr/>
          </a:p>
        </p:txBody>
      </p:sp>
      <p:grpSp>
        <p:nvGrpSpPr>
          <p:cNvPr id="278" name="Google Shape;278;p28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79" name="Google Shape;279;p28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80" name="Google Shape;280;p28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81" name="Google Shape;281;p2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2" name="Google Shape;282;p28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83" name="Google Shape;28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5"/>
          <p:cNvPicPr preferRelativeResize="0"/>
          <p:nvPr/>
        </p:nvPicPr>
        <p:blipFill rotWithShape="1">
          <a:blip r:embed="rId3">
            <a:alphaModFix amt="20000"/>
          </a:blip>
          <a:srcRect b="6921" l="0" r="0" t="0"/>
          <a:stretch/>
        </p:blipFill>
        <p:spPr>
          <a:xfrm>
            <a:off x="2375026" y="18651"/>
            <a:ext cx="8254745" cy="7274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"/>
          <p:cNvSpPr txBox="1"/>
          <p:nvPr/>
        </p:nvSpPr>
        <p:spPr>
          <a:xfrm>
            <a:off x="2463800" y="2326271"/>
            <a:ext cx="13716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21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9398000" y="5118736"/>
            <a:ext cx="13716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21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 txBox="1"/>
          <p:nvPr/>
        </p:nvSpPr>
        <p:spPr>
          <a:xfrm>
            <a:off x="2375027" y="3165777"/>
            <a:ext cx="8254745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ACADEMIA BOMBEIRO MILITAR</a:t>
            </a:r>
            <a:endParaRPr b="1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Aqui se aprende a comandar heróis!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Jamile Oliveira</dc:creator>
</cp:coreProperties>
</file>