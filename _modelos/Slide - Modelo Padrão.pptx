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7315200" cx="13004800"/>
  <p:notesSz cx="6858000" cy="9144000"/>
  <p:embeddedFontLst>
    <p:embeddedFont>
      <p:font typeface="Oswald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hM0iIglgDH7p7eLt1WuIikaFgL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Oswald-regular.fntdata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font" Target="fonts/Oswa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8" name="Google Shape;28;p9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9" name="Google Shape;29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" type="body"/>
          </p:nvPr>
        </p:nvSpPr>
        <p:spPr>
          <a:xfrm>
            <a:off x="963084" y="2906714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" name="Google Shape;41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2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2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2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609601" y="1435100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 rot="5400000">
            <a:off x="7285039" y="1828801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 rot="5400000">
            <a:off x="1697039" y="-812800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653854" y="6029103"/>
            <a:ext cx="1697093" cy="1285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5653854" y="2197702"/>
            <a:ext cx="1697093" cy="12856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690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625600" y="2560692"/>
            <a:ext cx="97536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Nome da disciplina</a:t>
            </a:r>
            <a:endParaRPr b="1" i="0" sz="5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2238990" y="5041979"/>
            <a:ext cx="8526820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Nome do instrutor – Posto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238990" y="6308245"/>
            <a:ext cx="8526820" cy="4792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31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Mês/ano</a:t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3" name="Google Shape;93;p1"/>
          <p:cNvGrpSpPr/>
          <p:nvPr/>
        </p:nvGrpSpPr>
        <p:grpSpPr>
          <a:xfrm>
            <a:off x="293939" y="-98446"/>
            <a:ext cx="12416922" cy="3254805"/>
            <a:chOff x="0" y="-47625"/>
            <a:chExt cx="2901555" cy="860425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2901555" cy="488448"/>
            </a:xfrm>
            <a:custGeom>
              <a:rect b="b" l="l" r="r" t="t"/>
              <a:pathLst>
                <a:path extrusionOk="0" h="488448" w="2901555">
                  <a:moveTo>
                    <a:pt x="35576" y="0"/>
                  </a:moveTo>
                  <a:lnTo>
                    <a:pt x="2865979" y="0"/>
                  </a:lnTo>
                  <a:cubicBezTo>
                    <a:pt x="2875414" y="0"/>
                    <a:pt x="2884463" y="3748"/>
                    <a:pt x="2891135" y="10420"/>
                  </a:cubicBezTo>
                  <a:cubicBezTo>
                    <a:pt x="2897806" y="17092"/>
                    <a:pt x="2901555" y="26141"/>
                    <a:pt x="2901555" y="35576"/>
                  </a:cubicBezTo>
                  <a:lnTo>
                    <a:pt x="2901555" y="452872"/>
                  </a:lnTo>
                  <a:cubicBezTo>
                    <a:pt x="2901555" y="462307"/>
                    <a:pt x="2897806" y="471356"/>
                    <a:pt x="2891135" y="478028"/>
                  </a:cubicBezTo>
                  <a:cubicBezTo>
                    <a:pt x="2884463" y="484700"/>
                    <a:pt x="2875414" y="488448"/>
                    <a:pt x="2865979" y="488448"/>
                  </a:cubicBezTo>
                  <a:lnTo>
                    <a:pt x="35576" y="488448"/>
                  </a:lnTo>
                  <a:cubicBezTo>
                    <a:pt x="15928" y="488448"/>
                    <a:pt x="0" y="472520"/>
                    <a:pt x="0" y="452872"/>
                  </a:cubicBezTo>
                  <a:lnTo>
                    <a:pt x="0" y="35576"/>
                  </a:lnTo>
                  <a:cubicBezTo>
                    <a:pt x="0" y="26141"/>
                    <a:pt x="3748" y="17092"/>
                    <a:pt x="10420" y="10420"/>
                  </a:cubicBezTo>
                  <a:cubicBezTo>
                    <a:pt x="17092" y="3748"/>
                    <a:pt x="26141" y="0"/>
                    <a:pt x="35576" y="0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12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1"/>
          <p:cNvSpPr txBox="1"/>
          <p:nvPr/>
        </p:nvSpPr>
        <p:spPr>
          <a:xfrm>
            <a:off x="1728506" y="121636"/>
            <a:ext cx="9620196" cy="1723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CORPO DE BOMBEIROS MILITAR DO PARÁ E</a:t>
            </a:r>
            <a:endParaRPr b="1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COORDENADORIA ESTADUAL DE PROTEÇÃO E DEFESA CIVIL</a:t>
            </a:r>
            <a:endParaRPr b="1" i="0" sz="2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DEPARTAMENTO-GERAL DE CULTURA, EDUCAÇÃO E PESQUISA</a:t>
            </a:r>
            <a:endParaRPr b="1" i="0" sz="2000" u="none" cap="none" strike="noStrike">
              <a:solidFill>
                <a:srgbClr val="FFFFF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ACADEMIA DE BOMBEIRO MILITAR</a:t>
            </a:r>
            <a:endParaRPr b="1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97" name="Google Shape;9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905" y="324013"/>
            <a:ext cx="2218615" cy="1123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61896" y="330450"/>
            <a:ext cx="1010842" cy="130592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661804" y="4225820"/>
            <a:ext cx="9753600" cy="3847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Curso de Formação de Oficiais BM 2025 – Turma 15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3245869" cy="7315200"/>
          </a:xfrm>
          <a:prstGeom prst="rect">
            <a:avLst/>
          </a:prstGeom>
          <a:solidFill>
            <a:srgbClr val="C00000"/>
          </a:solidFill>
          <a:ln cap="flat" cmpd="sng" w="254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69091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" name="Google Shape;105;p2"/>
          <p:cNvGrpSpPr/>
          <p:nvPr/>
        </p:nvGrpSpPr>
        <p:grpSpPr>
          <a:xfrm>
            <a:off x="3759201" y="1194385"/>
            <a:ext cx="8045289" cy="1527511"/>
            <a:chOff x="2795" y="0"/>
            <a:chExt cx="10727053" cy="2036682"/>
          </a:xfrm>
        </p:grpSpPr>
        <p:grpSp>
          <p:nvGrpSpPr>
            <p:cNvPr id="106" name="Google Shape;106;p2"/>
            <p:cNvGrpSpPr/>
            <p:nvPr/>
          </p:nvGrpSpPr>
          <p:grpSpPr>
            <a:xfrm>
              <a:off x="2795" y="0"/>
              <a:ext cx="1247660" cy="1253252"/>
              <a:chOff x="1813" y="0"/>
              <a:chExt cx="809173" cy="812800"/>
            </a:xfrm>
          </p:grpSpPr>
          <p:sp>
            <p:nvSpPr>
              <p:cNvPr id="107" name="Google Shape;107;p2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690918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  <p:sp>
            <p:nvSpPr>
              <p:cNvPr id="108" name="Google Shape;108;p2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8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p:grpSp>
        <p:pic>
          <p:nvPicPr>
            <p:cNvPr id="109" name="Google Shape;10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55862" y="259766"/>
              <a:ext cx="541528" cy="7211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2"/>
            <p:cNvSpPr txBox="1"/>
            <p:nvPr/>
          </p:nvSpPr>
          <p:spPr>
            <a:xfrm>
              <a:off x="1669371" y="1117455"/>
              <a:ext cx="9039838" cy="9192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42900" lvl="0" marL="342900" marR="0" rtl="0" algn="just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70707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70707"/>
                  </a:solidFill>
                  <a:latin typeface="Cambria"/>
                  <a:ea typeface="Cambria"/>
                  <a:cs typeface="Cambria"/>
                  <a:sym typeface="Cambria"/>
                </a:rPr>
                <a:t>Objetivo 1;</a:t>
              </a:r>
              <a:endParaRPr b="0" i="0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42900" lvl="0" marL="342900" marR="0" rtl="0" algn="just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70707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70707"/>
                  </a:solidFill>
                  <a:latin typeface="Cambria"/>
                  <a:ea typeface="Cambria"/>
                  <a:cs typeface="Cambria"/>
                  <a:sym typeface="Cambria"/>
                </a:rPr>
                <a:t>Objetivo 2; etc.</a:t>
              </a:r>
              <a:endParaRPr b="0" i="0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1669371" y="328811"/>
              <a:ext cx="9060477" cy="6489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3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C00000"/>
                  </a:solidFill>
                  <a:latin typeface="Cambria"/>
                  <a:ea typeface="Cambria"/>
                  <a:cs typeface="Cambria"/>
                  <a:sym typeface="Cambria"/>
                </a:rPr>
                <a:t>Objetivos</a:t>
              </a:r>
              <a:endParaRPr b="1" i="0" sz="2799" u="none" cap="none" strike="noStrik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3759201" y="3491633"/>
            <a:ext cx="8045289" cy="2080599"/>
            <a:chOff x="2795" y="-244268"/>
            <a:chExt cx="10727053" cy="2774132"/>
          </a:xfrm>
        </p:grpSpPr>
        <p:grpSp>
          <p:nvGrpSpPr>
            <p:cNvPr id="113" name="Google Shape;113;p2"/>
            <p:cNvGrpSpPr/>
            <p:nvPr/>
          </p:nvGrpSpPr>
          <p:grpSpPr>
            <a:xfrm>
              <a:off x="2795" y="-244268"/>
              <a:ext cx="1247660" cy="1497520"/>
              <a:chOff x="1813" y="-158421"/>
              <a:chExt cx="809173" cy="971221"/>
            </a:xfrm>
          </p:grpSpPr>
          <p:sp>
            <p:nvSpPr>
              <p:cNvPr id="114" name="Google Shape;114;p2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rect b="b" l="l" r="r" t="t"/>
                <a:pathLst>
                  <a:path extrusionOk="0" h="812800" w="809173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  <p:sp>
            <p:nvSpPr>
              <p:cNvPr id="115" name="Google Shape;115;p2"/>
              <p:cNvSpPr txBox="1"/>
              <p:nvPr/>
            </p:nvSpPr>
            <p:spPr>
              <a:xfrm>
                <a:off x="74386" y="-158421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0888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mbria"/>
                  <a:ea typeface="Cambria"/>
                  <a:cs typeface="Cambria"/>
                  <a:sym typeface="Cambria"/>
                </a:endParaRPr>
              </a:p>
            </p:txBody>
          </p:sp>
        </p:grpSp>
        <p:sp>
          <p:nvSpPr>
            <p:cNvPr id="116" name="Google Shape;116;p2"/>
            <p:cNvSpPr txBox="1"/>
            <p:nvPr/>
          </p:nvSpPr>
          <p:spPr>
            <a:xfrm>
              <a:off x="1690010" y="1151025"/>
              <a:ext cx="9039838" cy="13788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42900" lvl="0" marL="342900" marR="0" rtl="0" algn="just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70707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70707"/>
                  </a:solidFill>
                  <a:latin typeface="Cambria"/>
                  <a:ea typeface="Cambria"/>
                  <a:cs typeface="Cambria"/>
                  <a:sym typeface="Cambria"/>
                </a:rPr>
                <a:t>Conteúdo 1;</a:t>
              </a:r>
              <a:endParaRPr b="0" i="0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42900" lvl="0" marL="342900" marR="0" rtl="0" algn="just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70707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70707"/>
                  </a:solidFill>
                  <a:latin typeface="Cambria"/>
                  <a:ea typeface="Cambria"/>
                  <a:cs typeface="Cambria"/>
                  <a:sym typeface="Cambria"/>
                </a:rPr>
                <a:t>Conteúdo 2;</a:t>
              </a:r>
              <a:endParaRPr b="0" i="0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-342900" lvl="0" marL="342900" marR="0" rtl="0" algn="just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70707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70707"/>
                  </a:solidFill>
                  <a:latin typeface="Cambria"/>
                  <a:ea typeface="Cambria"/>
                  <a:cs typeface="Cambria"/>
                  <a:sym typeface="Cambria"/>
                </a:rPr>
                <a:t>Conteúdo 3; etc.</a:t>
              </a:r>
              <a:endParaRPr b="0" i="0" sz="14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117" name="Google Shape;117;p2"/>
            <p:cNvSpPr txBox="1"/>
            <p:nvPr/>
          </p:nvSpPr>
          <p:spPr>
            <a:xfrm>
              <a:off x="1690011" y="362381"/>
              <a:ext cx="9039837" cy="6489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300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C00000"/>
                  </a:solidFill>
                  <a:latin typeface="Cambria"/>
                  <a:ea typeface="Cambria"/>
                  <a:cs typeface="Cambria"/>
                  <a:sym typeface="Cambria"/>
                </a:rPr>
                <a:t>Conteúdo a ser abordado</a:t>
              </a:r>
              <a:endParaRPr b="1" i="0" sz="2799" u="none" cap="none" strike="noStrik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pic>
        <p:nvPicPr>
          <p:cNvPr id="118" name="Google Shape;118;p2"/>
          <p:cNvPicPr preferRelativeResize="0"/>
          <p:nvPr/>
        </p:nvPicPr>
        <p:blipFill rotWithShape="1">
          <a:blip r:embed="rId4">
            <a:alphaModFix/>
          </a:blip>
          <a:srcRect b="21467" l="2817" r="50313" t="22234"/>
          <a:stretch/>
        </p:blipFill>
        <p:spPr>
          <a:xfrm>
            <a:off x="3939702" y="3840480"/>
            <a:ext cx="581499" cy="5238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" name="Google Shape;119;p2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120" name="Google Shape;120;p2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121" name="Google Shape;121;p2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2" name="Google Shape;122;p2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3" name="Google Shape;123;p2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24" name="Google Shape;124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3200">
                <a:latin typeface="Cambria"/>
                <a:ea typeface="Cambria"/>
                <a:cs typeface="Cambria"/>
                <a:sym typeface="Cambria"/>
              </a:rPr>
              <a:t>Título</a:t>
            </a:r>
            <a:endParaRPr b="1" sz="3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0" name="Google Shape;130;p3"/>
          <p:cNvSpPr txBox="1"/>
          <p:nvPr>
            <p:ph idx="1" type="body"/>
          </p:nvPr>
        </p:nvSpPr>
        <p:spPr>
          <a:xfrm>
            <a:off x="548640" y="1478598"/>
            <a:ext cx="1192276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Fonte: Cambria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b="1" lang="en-US">
                <a:latin typeface="Cambria"/>
                <a:ea typeface="Cambria"/>
                <a:cs typeface="Cambria"/>
                <a:sym typeface="Cambria"/>
              </a:rPr>
              <a:t>Título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: preferencialmente tamanho 32, em negrito;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Texto: preferencialmente em tamanho 20, justificado.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Imagens/figuras: deve ser indicada a fonte da imagem, em tamanho 16.</a:t>
            </a:r>
            <a:endParaRPr/>
          </a:p>
        </p:txBody>
      </p:sp>
      <p:grpSp>
        <p:nvGrpSpPr>
          <p:cNvPr id="131" name="Google Shape;131;p3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132" name="Google Shape;132;p3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133" name="Google Shape;133;p3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34" name="Google Shape;134;p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5" name="Google Shape;135;p3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36" name="Google Shape;136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4"/>
          <p:cNvGrpSpPr/>
          <p:nvPr/>
        </p:nvGrpSpPr>
        <p:grpSpPr>
          <a:xfrm>
            <a:off x="10337800" y="-396240"/>
            <a:ext cx="2667000" cy="1386557"/>
            <a:chOff x="7391400" y="-381000"/>
            <a:chExt cx="2667000" cy="1386557"/>
          </a:xfrm>
        </p:grpSpPr>
        <p:grpSp>
          <p:nvGrpSpPr>
            <p:cNvPr id="142" name="Google Shape;142;p4"/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</p:grpSpPr>
          <p:sp>
            <p:nvSpPr>
              <p:cNvPr id="143" name="Google Shape;143;p4"/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rect b="b" l="l" r="r" t="t"/>
                <a:pathLst>
                  <a:path extrusionOk="0" h="488448" w="2901555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44" name="Google Shape;144;p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5" name="Google Shape;145;p4"/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fmla="val 50000" name="adj"/>
                </a:avLst>
              </a:prstGeom>
              <a:solidFill>
                <a:srgbClr val="C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46" name="Google Shape;146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962139" y="195585"/>
              <a:ext cx="562861" cy="60881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4"/>
          <p:cNvSpPr txBox="1"/>
          <p:nvPr>
            <p:ph type="title"/>
          </p:nvPr>
        </p:nvSpPr>
        <p:spPr>
          <a:xfrm>
            <a:off x="548640" y="274638"/>
            <a:ext cx="97637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lang="en-US" sz="3200">
                <a:latin typeface="Cambria"/>
                <a:ea typeface="Cambria"/>
                <a:cs typeface="Cambria"/>
                <a:sym typeface="Cambria"/>
              </a:rPr>
              <a:t>Título</a:t>
            </a:r>
            <a:endParaRPr b="1" sz="3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8" name="Google Shape;148;p4"/>
          <p:cNvSpPr txBox="1"/>
          <p:nvPr>
            <p:ph idx="1" type="body"/>
          </p:nvPr>
        </p:nvSpPr>
        <p:spPr>
          <a:xfrm>
            <a:off x="548640" y="1545975"/>
            <a:ext cx="57252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Texto ou imagem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9" name="Google Shape;149;p4"/>
          <p:cNvSpPr txBox="1"/>
          <p:nvPr>
            <p:ph idx="2" type="body"/>
          </p:nvPr>
        </p:nvSpPr>
        <p:spPr>
          <a:xfrm>
            <a:off x="6502400" y="1545975"/>
            <a:ext cx="57252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000">
                <a:latin typeface="Cambria"/>
                <a:ea typeface="Cambria"/>
                <a:cs typeface="Cambria"/>
                <a:sym typeface="Cambria"/>
              </a:rPr>
              <a:t>Texto ou imagem</a:t>
            </a:r>
            <a:endParaRPr sz="2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5"/>
          <p:cNvPicPr preferRelativeResize="0"/>
          <p:nvPr/>
        </p:nvPicPr>
        <p:blipFill rotWithShape="1">
          <a:blip r:embed="rId3">
            <a:alphaModFix amt="20000"/>
          </a:blip>
          <a:srcRect b="6921" l="0" r="0" t="0"/>
          <a:stretch/>
        </p:blipFill>
        <p:spPr>
          <a:xfrm>
            <a:off x="2375026" y="18651"/>
            <a:ext cx="8254745" cy="727442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5"/>
          <p:cNvSpPr txBox="1"/>
          <p:nvPr/>
        </p:nvSpPr>
        <p:spPr>
          <a:xfrm>
            <a:off x="2463800" y="2326271"/>
            <a:ext cx="1371600" cy="1329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21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9398000" y="5118736"/>
            <a:ext cx="1371600" cy="1329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721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FF0000"/>
                </a:solidFill>
                <a:latin typeface="Oswald"/>
                <a:ea typeface="Oswald"/>
                <a:cs typeface="Oswald"/>
                <a:sym typeface="Oswald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2375027" y="3165777"/>
            <a:ext cx="8254745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ACADEMIA BOMBEIRO MILITAR</a:t>
            </a:r>
            <a:endParaRPr b="1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Aqui se aprende a comandar heróis!</a:t>
            </a:r>
            <a:endParaRPr b="0" i="0" sz="1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Jamile Oliveira</dc:creator>
</cp:coreProperties>
</file>